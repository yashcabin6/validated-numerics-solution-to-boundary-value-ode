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28_1C5D2B51.xml" ContentType="application/vnd.ms-powerpoint.comments+xml"/>
  <Override PartName="/ppt/comments/modernComment_115_1CA64A81.xml" ContentType="application/vnd.ms-powerpoint.comments+xml"/>
  <Override PartName="/ppt/comments/modernComment_12B_B1682F3C.xml" ContentType="application/vnd.ms-powerpoint.comments+xml"/>
  <Override PartName="/ppt/comments/modernComment_12C_2783EE72.xml" ContentType="application/vnd.ms-powerpoint.comments+xml"/>
  <Override PartName="/ppt/comments/modernComment_129_CCB1B482.xml" ContentType="application/vnd.ms-powerpoint.comments+xml"/>
  <Override PartName="/ppt/comments/modernComment_11D_170272C9.xml" ContentType="application/vnd.ms-powerpoint.comments+xml"/>
  <Override PartName="/ppt/comments/modernComment_120_C02947E6.xml" ContentType="application/vnd.ms-powerpoint.comments+xml"/>
  <Override PartName="/ppt/comments/modernComment_11F_EB5F9377.xml" ContentType="application/vnd.ms-powerpoint.comments+xml"/>
  <Override PartName="/ppt/comments/modernComment_127_7B9E73C3.xml" ContentType="application/vnd.ms-powerpoint.comments+xml"/>
  <Override PartName="/ppt/comments/modernComment_11B_54A2A09.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96" r:id="rId3"/>
    <p:sldId id="270" r:id="rId4"/>
    <p:sldId id="271" r:id="rId5"/>
    <p:sldId id="277" r:id="rId6"/>
    <p:sldId id="299" r:id="rId7"/>
    <p:sldId id="300" r:id="rId8"/>
    <p:sldId id="297" r:id="rId9"/>
    <p:sldId id="285" r:id="rId10"/>
    <p:sldId id="286" r:id="rId11"/>
    <p:sldId id="288" r:id="rId12"/>
    <p:sldId id="287" r:id="rId13"/>
    <p:sldId id="295" r:id="rId14"/>
    <p:sldId id="289" r:id="rId15"/>
    <p:sldId id="291" r:id="rId16"/>
    <p:sldId id="292" r:id="rId17"/>
    <p:sldId id="293" r:id="rId18"/>
    <p:sldId id="294" r:id="rId19"/>
    <p:sldId id="283"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AFAC27-47F2-DA6A-FC7A-AFF45DEF8CB0}" name="Yash Kumar" initials="YK" userId="S::ee3221196@iitd.ac.in::61c0fa50-9e2e-42c8-8a9f-b8582243aed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5DECB9-F42C-1161-E9EF-4DB166DC66C9}" v="1609" dt="2025-10-31T12:41:37.763"/>
    <p1510:client id="{E12DC4EB-125E-1773-26B4-291EAEDA9A6D}" v="53" dt="2025-10-31T10:23:56.799"/>
    <p1510:client id="{F4A8FD65-90B5-8827-E681-0A7E1707D1DB}" v="13" dt="2025-10-31T10:19:30.0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comments/modernComment_11B_54A2A09.xml><?xml version="1.0" encoding="utf-8"?>
<p188:cmLst xmlns:a="http://schemas.openxmlformats.org/drawingml/2006/main" xmlns:r="http://schemas.openxmlformats.org/officeDocument/2006/relationships" xmlns:p188="http://schemas.microsoft.com/office/powerpoint/2018/8/main">
  <p188:cm id="{FBC7FF72-910D-4DD7-AEE9-334964EDD349}" authorId="{12AFAC27-47F2-DA6A-FC7A-AFF45DEF8CB0}" created="2025-10-21T07:33:43.527">
    <pc:sldMkLst xmlns:pc="http://schemas.microsoft.com/office/powerpoint/2013/main/command">
      <pc:docMk/>
      <pc:sldMk cId="88746505" sldId="283"/>
    </pc:sldMkLst>
    <p188:txBody>
      <a:bodyPr/>
      <a:lstStyle/>
      <a:p>
        <a:r>
          <a:rPr lang="en-US"/>
          <a:t>//</a:t>
        </a:r>
      </a:p>
    </p188:txBody>
  </p188:cm>
</p188:cmLst>
</file>

<file path=ppt/comments/modernComment_11D_170272C9.xml><?xml version="1.0" encoding="utf-8"?>
<p188:cmLst xmlns:a="http://schemas.openxmlformats.org/drawingml/2006/main" xmlns:r="http://schemas.openxmlformats.org/officeDocument/2006/relationships" xmlns:p188="http://schemas.microsoft.com/office/powerpoint/2018/8/main">
  <p188:cm id="{0DACD7D9-22B7-4E9F-AE1C-A7FF27CA4422}" authorId="{12AFAC27-47F2-DA6A-FC7A-AFF45DEF8CB0}" created="2025-10-21T07:55:26.627">
    <pc:sldMkLst xmlns:pc="http://schemas.microsoft.com/office/powerpoint/2013/main/command">
      <pc:docMk/>
      <pc:sldMk cId="386036425" sldId="285"/>
    </pc:sldMkLst>
    <p188:txBody>
      <a:bodyPr/>
      <a:lstStyle/>
      <a:p>
        <a:r>
          <a:rPr lang="en-US"/>
          <a:t>// subtitle added</a:t>
        </a:r>
      </a:p>
    </p188:txBody>
  </p188:cm>
</p188:cmLst>
</file>

<file path=ppt/comments/modernComment_11F_EB5F9377.xml><?xml version="1.0" encoding="utf-8"?>
<p188:cmLst xmlns:a="http://schemas.openxmlformats.org/drawingml/2006/main" xmlns:r="http://schemas.openxmlformats.org/officeDocument/2006/relationships" xmlns:p188="http://schemas.microsoft.com/office/powerpoint/2018/8/main">
  <p188:cm id="{B1B30629-E073-48EB-922C-7A01D0684670}" authorId="{12AFAC27-47F2-DA6A-FC7A-AFF45DEF8CB0}" created="2025-10-21T09:29:02.176">
    <ac:deMkLst xmlns:ac="http://schemas.microsoft.com/office/drawing/2013/main/command">
      <pc:docMk xmlns:pc="http://schemas.microsoft.com/office/powerpoint/2013/main/command"/>
      <pc:sldMk xmlns:pc="http://schemas.microsoft.com/office/powerpoint/2013/main/command" cId="3948909431" sldId="287"/>
      <ac:spMk id="2" creationId="{CA76BE19-88B0-6BE7-AD46-9686A06E387E}"/>
    </ac:deMkLst>
    <p188:txBody>
      <a:bodyPr/>
      <a:lstStyle/>
      <a:p>
        <a:r>
          <a:rPr lang="en-US"/>
          <a:t>//title update</a:t>
        </a:r>
      </a:p>
    </p188:txBody>
  </p188:cm>
</p188:cmLst>
</file>

<file path=ppt/comments/modernComment_12B_B1682F3C.xml><?xml version="1.0" encoding="utf-8"?>
<p188:cmLst xmlns:a="http://schemas.openxmlformats.org/drawingml/2006/main" xmlns:r="http://schemas.openxmlformats.org/officeDocument/2006/relationships" xmlns:p188="http://schemas.microsoft.com/office/powerpoint/2018/8/main">
  <p188:cm id="{BC8B515B-2D32-44AF-8C63-B6E317D9D335}" authorId="{12AFAC27-47F2-DA6A-FC7A-AFF45DEF8CB0}" created="2025-10-21T05:05:39.579">
    <pc:sldMkLst xmlns:pc="http://schemas.microsoft.com/office/powerpoint/2013/main/command">
      <pc:docMk/>
      <pc:sldMk cId="475867985" sldId="296"/>
    </pc:sldMkLst>
    <p188:txBody>
      <a:bodyPr/>
      <a:lstStyle/>
      <a:p>
        <a:r>
          <a:rPr lang="en-US"/>
          <a:t>//</a:t>
        </a:r>
      </a:p>
    </p188:txBody>
  </p188:cm>
</p188:cmLst>
</file>

<file path=ppt/comments/modernComment_12C_2783EE72.xml><?xml version="1.0" encoding="utf-8"?>
<p188:cmLst xmlns:a="http://schemas.openxmlformats.org/drawingml/2006/main" xmlns:r="http://schemas.openxmlformats.org/officeDocument/2006/relationships" xmlns:p188="http://schemas.microsoft.com/office/powerpoint/2018/8/main">
  <p188:cm id="{FB3758F0-4C3B-403F-ABF7-7314032B7CE1}" authorId="{12AFAC27-47F2-DA6A-FC7A-AFF45DEF8CB0}" created="2025-10-21T05:05:39.579">
    <pc:sldMkLst xmlns:pc="http://schemas.microsoft.com/office/powerpoint/2013/main/command">
      <pc:docMk/>
      <pc:sldMk cId="475867985" sldId="296"/>
    </pc:sldMkLst>
    <p188:txBody>
      <a:bodyPr/>
      <a:lstStyle/>
      <a:p>
        <a:r>
          <a:rPr lang="en-US"/>
          <a:t>//</a:t>
        </a:r>
      </a:p>
    </p188:txBody>
  </p188:cm>
</p188:cmLst>
</file>

<file path=ppt/comments/modernComment_115_1CA64A81.xml><?xml version="1.0" encoding="utf-8"?>
<p188:cmLst xmlns:a="http://schemas.openxmlformats.org/drawingml/2006/main" xmlns:r="http://schemas.openxmlformats.org/officeDocument/2006/relationships" xmlns:p188="http://schemas.microsoft.com/office/powerpoint/2018/8/main">
  <p188:cm id="{06C2D998-3A1C-4AD7-92EB-7BA0FF413C44}" authorId="{12AFAC27-47F2-DA6A-FC7A-AFF45DEF8CB0}" created="2025-10-21T05:05:56.767">
    <pc:sldMkLst xmlns:pc="http://schemas.microsoft.com/office/powerpoint/2013/main/command">
      <pc:docMk/>
      <pc:sldMk cId="480660097" sldId="277"/>
    </pc:sldMkLst>
    <p188:txBody>
      <a:bodyPr/>
      <a:lstStyle/>
      <a:p>
        <a:r>
          <a:rPr lang="en-US"/>
          <a:t>//</a:t>
        </a:r>
      </a:p>
    </p188:txBody>
  </p188:cm>
</p188:cmLst>
</file>

<file path=ppt/comments/modernComment_120_C02947E6.xml><?xml version="1.0" encoding="utf-8"?>
<p188:cmLst xmlns:a="http://schemas.openxmlformats.org/drawingml/2006/main" xmlns:r="http://schemas.openxmlformats.org/officeDocument/2006/relationships" xmlns:p188="http://schemas.microsoft.com/office/powerpoint/2018/8/main">
  <p188:cm id="{F5629BD0-CE32-410C-AA94-B95AB5927CFB}" authorId="{12AFAC27-47F2-DA6A-FC7A-AFF45DEF8CB0}" created="2025-10-21T07:55:44.676">
    <pc:sldMkLst xmlns:pc="http://schemas.microsoft.com/office/powerpoint/2013/main/command">
      <pc:docMk/>
      <pc:sldMk cId="3223930854" sldId="288"/>
    </pc:sldMkLst>
    <p188:txBody>
      <a:bodyPr/>
      <a:lstStyle/>
      <a:p>
        <a:r>
          <a:rPr lang="en-US"/>
          <a:t>// The Issue slide tilte updated </a:t>
        </a:r>
      </a:p>
    </p188:txBody>
  </p188:cm>
</p188:cmLst>
</file>

<file path=ppt/comments/modernComment_127_7B9E73C3.xml><?xml version="1.0" encoding="utf-8"?>
<p188:cmLst xmlns:a="http://schemas.openxmlformats.org/drawingml/2006/main" xmlns:r="http://schemas.openxmlformats.org/officeDocument/2006/relationships" xmlns:p188="http://schemas.microsoft.com/office/powerpoint/2018/8/main">
  <p188:cm id="{EE44D8C9-D070-44CF-892F-BD339145C3D4}" authorId="{12AFAC27-47F2-DA6A-FC7A-AFF45DEF8CB0}" created="2025-10-21T10:23:27.276">
    <pc:sldMkLst xmlns:pc="http://schemas.microsoft.com/office/powerpoint/2013/main/command">
      <pc:docMk/>
      <pc:sldMk cId="2073981891" sldId="295"/>
    </pc:sldMkLst>
    <p188:txBody>
      <a:bodyPr/>
      <a:lstStyle/>
      <a:p>
        <a:r>
          <a:rPr lang="en-US"/>
          <a:t>//title update</a:t>
        </a:r>
      </a:p>
    </p188:txBody>
  </p188:cm>
</p188:cmLst>
</file>

<file path=ppt/comments/modernComment_128_1C5D2B51.xml><?xml version="1.0" encoding="utf-8"?>
<p188:cmLst xmlns:a="http://schemas.openxmlformats.org/drawingml/2006/main" xmlns:r="http://schemas.openxmlformats.org/officeDocument/2006/relationships" xmlns:p188="http://schemas.microsoft.com/office/powerpoint/2018/8/main">
  <p188:cm id="{ECFE8243-0A49-4770-9EE0-26A89A05B458}" authorId="{12AFAC27-47F2-DA6A-FC7A-AFF45DEF8CB0}" created="2025-10-21T05:05:39.579">
    <pc:sldMkLst xmlns:pc="http://schemas.microsoft.com/office/powerpoint/2013/main/command">
      <pc:docMk/>
      <pc:sldMk cId="475867985" sldId="296"/>
    </pc:sldMkLst>
    <p188:txBody>
      <a:bodyPr/>
      <a:lstStyle/>
      <a:p>
        <a:r>
          <a:rPr lang="en-US"/>
          <a:t>//</a:t>
        </a:r>
      </a:p>
    </p188:txBody>
  </p188:cm>
</p188:cmLst>
</file>

<file path=ppt/comments/modernComment_129_CCB1B482.xml><?xml version="1.0" encoding="utf-8"?>
<p188:cmLst xmlns:a="http://schemas.openxmlformats.org/drawingml/2006/main" xmlns:r="http://schemas.openxmlformats.org/officeDocument/2006/relationships" xmlns:p188="http://schemas.microsoft.com/office/powerpoint/2018/8/main">
  <p188:cm id="{0D957179-5CE7-46C1-8193-39EA32890AB2}" authorId="{12AFAC27-47F2-DA6A-FC7A-AFF45DEF8CB0}" created="2025-10-21T05:06:02.423">
    <pc:sldMkLst xmlns:pc="http://schemas.microsoft.com/office/powerpoint/2013/main/command">
      <pc:docMk/>
      <pc:sldMk cId="3434198146" sldId="297"/>
    </pc:sldMkLst>
    <p188:txBody>
      <a:bodyPr/>
      <a:lstStyle/>
      <a:p>
        <a:r>
          <a:rPr lang="en-US"/>
          <a:t>//</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4992101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53145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11/7/2025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444713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501469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770274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11/7/2025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166498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11/7/2025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704114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454871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11/7/2025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053564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11/7/2025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449723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11/7/2025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462310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11/7/2025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395577060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8_1C5D2B5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15_1CA64A8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microsoft.com/office/2018/10/relationships/comments" Target="../comments/modernComment_12B_B1682F3C.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2C_2783EE7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29_CCB1B48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microsoft.com/office/2018/10/relationships/comments" Target="../comments/modernComment_11D_170272C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microsoft.com/office/2018/10/relationships/comments" Target="../comments/modernComment_120_C02947E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1F_EB5F937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microsoft.com/office/2018/10/relationships/comments" Target="../comments/modernComment_127_7B9E73C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1B_54A2A0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9523" y="1058610"/>
            <a:ext cx="7588155" cy="1534873"/>
          </a:xfrm>
        </p:spPr>
        <p:txBody>
          <a:bodyPr>
            <a:normAutofit/>
          </a:bodyPr>
          <a:lstStyle/>
          <a:p>
            <a:r>
              <a:rPr lang="en-US" b="0"/>
              <a:t>Boundary value ODE Using Interval Arithmetic</a:t>
            </a:r>
          </a:p>
        </p:txBody>
      </p:sp>
      <p:sp>
        <p:nvSpPr>
          <p:cNvPr id="3" name="Subtitle 2"/>
          <p:cNvSpPr>
            <a:spLocks noGrp="1"/>
          </p:cNvSpPr>
          <p:nvPr>
            <p:ph type="subTitle" idx="1"/>
          </p:nvPr>
        </p:nvSpPr>
        <p:spPr>
          <a:xfrm>
            <a:off x="2301923" y="2788693"/>
            <a:ext cx="7588155" cy="760167"/>
          </a:xfrm>
        </p:spPr>
        <p:txBody>
          <a:bodyPr vert="horz" lIns="91440" tIns="45720" rIns="91440" bIns="45720" rtlCol="0" anchor="t">
            <a:normAutofit/>
          </a:bodyPr>
          <a:lstStyle/>
          <a:p>
            <a:r>
              <a:rPr lang="en-US"/>
              <a:t>Under the supervision of </a:t>
            </a:r>
            <a:br>
              <a:rPr lang="en-US"/>
            </a:br>
            <a:r>
              <a:rPr lang="en-US"/>
              <a:t>Prof. Shaunak Sen</a:t>
            </a:r>
          </a:p>
        </p:txBody>
      </p:sp>
      <p:sp>
        <p:nvSpPr>
          <p:cNvPr id="4" name="TextBox 3">
            <a:extLst>
              <a:ext uri="{FF2B5EF4-FFF2-40B4-BE49-F238E27FC236}">
                <a16:creationId xmlns:a16="http://schemas.microsoft.com/office/drawing/2014/main" id="{58C4C26D-9347-CDF6-4FBC-340A894CF8DE}"/>
              </a:ext>
            </a:extLst>
          </p:cNvPr>
          <p:cNvSpPr txBox="1"/>
          <p:nvPr/>
        </p:nvSpPr>
        <p:spPr>
          <a:xfrm rot="-10800000" flipV="1">
            <a:off x="1262303" y="5079785"/>
            <a:ext cx="27739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Yash Kumar</a:t>
            </a:r>
            <a:br>
              <a:rPr lang="en-US"/>
            </a:br>
            <a:r>
              <a:rPr lang="en-US"/>
              <a:t>Lokendra Singh Gohil</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FCCD-18EB-8183-B8B2-076D8C7FCE53}"/>
              </a:ext>
            </a:extLst>
          </p:cNvPr>
          <p:cNvSpPr>
            <a:spLocks noGrp="1"/>
          </p:cNvSpPr>
          <p:nvPr>
            <p:ph type="title"/>
          </p:nvPr>
        </p:nvSpPr>
        <p:spPr/>
        <p:txBody>
          <a:bodyPr/>
          <a:lstStyle/>
          <a:p>
            <a:r>
              <a:rPr lang="en-US" b="0"/>
              <a:t>Problem Statement</a:t>
            </a:r>
          </a:p>
        </p:txBody>
      </p:sp>
      <p:sp>
        <p:nvSpPr>
          <p:cNvPr id="3" name="Content Placeholder 2">
            <a:extLst>
              <a:ext uri="{FF2B5EF4-FFF2-40B4-BE49-F238E27FC236}">
                <a16:creationId xmlns:a16="http://schemas.microsoft.com/office/drawing/2014/main" id="{84FA119E-4672-FB0D-8D3F-0AB9A9F19D64}"/>
              </a:ext>
            </a:extLst>
          </p:cNvPr>
          <p:cNvSpPr>
            <a:spLocks noGrp="1"/>
          </p:cNvSpPr>
          <p:nvPr>
            <p:ph idx="1"/>
          </p:nvPr>
        </p:nvSpPr>
        <p:spPr/>
        <p:txBody>
          <a:bodyPr vert="horz" lIns="91440" tIns="45720" rIns="91440" bIns="45720" rtlCol="0" anchor="t">
            <a:normAutofit/>
          </a:bodyPr>
          <a:lstStyle/>
          <a:p>
            <a:pPr marL="342900" indent="-342900"/>
            <a:r>
              <a:rPr lang="en-US" dirty="0">
                <a:solidFill>
                  <a:srgbClr val="262626"/>
                </a:solidFill>
                <a:latin typeface="helvetica"/>
                <a:cs typeface="helvetica"/>
              </a:rPr>
              <a:t>This project aims to solve a Boundary Value problem which involves non-linear differential equations subject to endpoint constraints.</a:t>
            </a:r>
          </a:p>
          <a:p>
            <a:pPr marL="342900" indent="-342900"/>
            <a:r>
              <a:rPr lang="en-US" dirty="0">
                <a:solidFill>
                  <a:srgbClr val="262626"/>
                </a:solidFill>
                <a:latin typeface="helvetica"/>
                <a:cs typeface="helvetica"/>
              </a:rPr>
              <a:t>We aim to solve the problem using techniques like Interval Arithmetic which ensures rigorous bounds.</a:t>
            </a:r>
          </a:p>
          <a:p>
            <a:pPr marL="342900" indent="-342900"/>
            <a:r>
              <a:rPr lang="en-US" dirty="0">
                <a:solidFill>
                  <a:srgbClr val="262626"/>
                </a:solidFill>
                <a:latin typeface="helvetica"/>
                <a:cs typeface="helvetica"/>
              </a:rPr>
              <a:t>Specifically, we are solving the Brachistochrone Problem. For this problem, traditional analytical solutions already exist, but we are trying to solve it using Taylor Series and Interval Arithmetic methods.</a:t>
            </a:r>
          </a:p>
          <a:p>
            <a:pPr marL="342900" indent="-342900"/>
            <a:endParaRPr lang="en-US">
              <a:latin typeface="helvetica"/>
              <a:ea typeface="+mn-lt"/>
              <a:cs typeface="helvetica"/>
            </a:endParaRPr>
          </a:p>
        </p:txBody>
      </p:sp>
      <p:sp>
        <p:nvSpPr>
          <p:cNvPr id="4" name="Date Placeholder 3">
            <a:extLst>
              <a:ext uri="{FF2B5EF4-FFF2-40B4-BE49-F238E27FC236}">
                <a16:creationId xmlns:a16="http://schemas.microsoft.com/office/drawing/2014/main" id="{B26CD42B-FAA2-F922-1197-09015178117D}"/>
              </a:ext>
            </a:extLst>
          </p:cNvPr>
          <p:cNvSpPr>
            <a:spLocks noGrp="1"/>
          </p:cNvSpPr>
          <p:nvPr>
            <p:ph type="dt" sz="half" idx="10"/>
          </p:nvPr>
        </p:nvSpPr>
        <p:spPr/>
        <p:txBody>
          <a:bodyPr/>
          <a:lstStyle/>
          <a:p>
            <a:fld id="{A9790DD2-62DF-4338-B63B-7812D0DF161E}" type="datetime1">
              <a:t>11/7/2025</a:t>
            </a:fld>
            <a:endParaRPr lang="en-US"/>
          </a:p>
        </p:txBody>
      </p:sp>
      <p:sp>
        <p:nvSpPr>
          <p:cNvPr id="5" name="Footer Placeholder 4">
            <a:extLst>
              <a:ext uri="{FF2B5EF4-FFF2-40B4-BE49-F238E27FC236}">
                <a16:creationId xmlns:a16="http://schemas.microsoft.com/office/drawing/2014/main" id="{5A354F3B-E07E-A8DC-FE4F-F37B663E58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43F1403-E9D1-C855-E2A2-D6E0F45EAE7B}"/>
              </a:ext>
            </a:extLst>
          </p:cNvPr>
          <p:cNvSpPr>
            <a:spLocks noGrp="1"/>
          </p:cNvSpPr>
          <p:nvPr>
            <p:ph type="sldNum" sz="quarter" idx="12"/>
          </p:nvPr>
        </p:nvSpPr>
        <p:spPr/>
        <p:txBody>
          <a:bodyPr/>
          <a:lstStyle/>
          <a:p>
            <a:fld id="{CC057153-B650-4DEB-B370-79DDCFDCE934}" type="slidenum">
              <a:rPr lang="en-US" dirty="0"/>
              <a:t>2</a:t>
            </a:fld>
            <a:endParaRPr lang="en-US"/>
          </a:p>
        </p:txBody>
      </p:sp>
    </p:spTree>
    <p:extLst>
      <p:ext uri="{BB962C8B-B14F-4D97-AF65-F5344CB8AC3E}">
        <p14:creationId xmlns:p14="http://schemas.microsoft.com/office/powerpoint/2010/main" val="475867985"/>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D284-DB46-CB2C-D9E8-13A80E6E203F}"/>
              </a:ext>
            </a:extLst>
          </p:cNvPr>
          <p:cNvSpPr>
            <a:spLocks noGrp="1"/>
          </p:cNvSpPr>
          <p:nvPr>
            <p:ph type="title"/>
          </p:nvPr>
        </p:nvSpPr>
        <p:spPr>
          <a:xfrm>
            <a:off x="612648" y="548640"/>
            <a:ext cx="10741152" cy="1132258"/>
          </a:xfrm>
        </p:spPr>
        <p:txBody>
          <a:bodyPr anchor="t">
            <a:normAutofit/>
          </a:bodyPr>
          <a:lstStyle/>
          <a:p>
            <a:r>
              <a:rPr lang="en-US" b="0"/>
              <a:t>Introduction to Brachistochrone Problem</a:t>
            </a:r>
          </a:p>
          <a:p>
            <a:endParaRPr lang="en-US"/>
          </a:p>
        </p:txBody>
      </p:sp>
      <p:sp>
        <p:nvSpPr>
          <p:cNvPr id="8" name="Content Placeholder 7">
            <a:extLst>
              <a:ext uri="{FF2B5EF4-FFF2-40B4-BE49-F238E27FC236}">
                <a16:creationId xmlns:a16="http://schemas.microsoft.com/office/drawing/2014/main" id="{13CF6E01-637C-BE7E-4515-089F40620BA2}"/>
              </a:ext>
            </a:extLst>
          </p:cNvPr>
          <p:cNvSpPr>
            <a:spLocks noGrp="1"/>
          </p:cNvSpPr>
          <p:nvPr>
            <p:ph sz="half" idx="1"/>
          </p:nvPr>
        </p:nvSpPr>
        <p:spPr>
          <a:xfrm>
            <a:off x="612648" y="1825625"/>
            <a:ext cx="10091057" cy="4351338"/>
          </a:xfrm>
        </p:spPr>
        <p:txBody>
          <a:bodyPr vert="horz" lIns="91440" tIns="45720" rIns="91440" bIns="45720" rtlCol="0" anchor="t">
            <a:normAutofit/>
          </a:bodyPr>
          <a:lstStyle/>
          <a:p>
            <a:r>
              <a:rPr lang="en-US" dirty="0"/>
              <a:t>The Brachistochrone problem is a classical problem in calculus of variations</a:t>
            </a:r>
          </a:p>
          <a:p>
            <a:r>
              <a:rPr lang="en-US" dirty="0"/>
              <a:t>Find the shape of the curve down which a bead sliding from rest and accelerated by gravity will slip (without friction) from one point to another in the least time. The term derives from the Greek  (</a:t>
            </a:r>
            <a:r>
              <a:rPr lang="en-US" dirty="0" err="1"/>
              <a:t>brachistos</a:t>
            </a:r>
            <a:r>
              <a:rPr lang="en-US" dirty="0"/>
              <a:t>) "the shortest" and  (</a:t>
            </a:r>
            <a:r>
              <a:rPr lang="en-US" dirty="0" err="1"/>
              <a:t>chronos</a:t>
            </a:r>
            <a:r>
              <a:rPr lang="en-US" dirty="0"/>
              <a:t>) "time, delay."</a:t>
            </a:r>
          </a:p>
        </p:txBody>
      </p:sp>
      <p:sp>
        <p:nvSpPr>
          <p:cNvPr id="4" name="Date Placeholder 3">
            <a:extLst>
              <a:ext uri="{FF2B5EF4-FFF2-40B4-BE49-F238E27FC236}">
                <a16:creationId xmlns:a16="http://schemas.microsoft.com/office/drawing/2014/main" id="{C775B547-F662-E337-4D9D-873763CA610A}"/>
              </a:ext>
            </a:extLst>
          </p:cNvPr>
          <p:cNvSpPr>
            <a:spLocks noGrp="1"/>
          </p:cNvSpPr>
          <p:nvPr>
            <p:ph type="dt" sz="half" idx="10"/>
          </p:nvPr>
        </p:nvSpPr>
        <p:spPr>
          <a:xfrm>
            <a:off x="137160" y="6453002"/>
            <a:ext cx="3494314" cy="365125"/>
          </a:xfrm>
        </p:spPr>
        <p:txBody>
          <a:bodyPr anchor="ctr">
            <a:normAutofit/>
          </a:bodyPr>
          <a:lstStyle/>
          <a:p>
            <a:pPr>
              <a:spcAft>
                <a:spcPts val="600"/>
              </a:spcAft>
            </a:pPr>
            <a:fld id="{8CD88710-9A47-45D3-A4C5-65979AD4C2DF}" type="datetime1">
              <a:rPr lang="en-US"/>
              <a:pPr>
                <a:spcAft>
                  <a:spcPts val="600"/>
                </a:spcAft>
              </a:pPr>
              <a:t>11/7/2025</a:t>
            </a:fld>
            <a:endParaRPr lang="en-US"/>
          </a:p>
        </p:txBody>
      </p:sp>
      <p:sp>
        <p:nvSpPr>
          <p:cNvPr id="5" name="Footer Placeholder 4">
            <a:extLst>
              <a:ext uri="{FF2B5EF4-FFF2-40B4-BE49-F238E27FC236}">
                <a16:creationId xmlns:a16="http://schemas.microsoft.com/office/drawing/2014/main" id="{D53ED7F8-8137-23AF-4147-7D329E9AE0F0}"/>
              </a:ext>
            </a:extLst>
          </p:cNvPr>
          <p:cNvSpPr>
            <a:spLocks noGrp="1"/>
          </p:cNvSpPr>
          <p:nvPr>
            <p:ph type="ftr" sz="quarter" idx="11"/>
          </p:nvPr>
        </p:nvSpPr>
        <p:spPr>
          <a:xfrm>
            <a:off x="8876521" y="6453002"/>
            <a:ext cx="2805405"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48ECD71C-BF62-C17D-007F-A9A5D5B50ECD}"/>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3</a:t>
            </a:fld>
            <a:endParaRPr lang="en-US"/>
          </a:p>
        </p:txBody>
      </p:sp>
    </p:spTree>
    <p:extLst>
      <p:ext uri="{BB962C8B-B14F-4D97-AF65-F5344CB8AC3E}">
        <p14:creationId xmlns:p14="http://schemas.microsoft.com/office/powerpoint/2010/main" val="165698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5502E-4C2D-9B59-7BBF-F9B58469388E}"/>
              </a:ext>
            </a:extLst>
          </p:cNvPr>
          <p:cNvSpPr>
            <a:spLocks noGrp="1"/>
          </p:cNvSpPr>
          <p:nvPr>
            <p:ph type="title"/>
          </p:nvPr>
        </p:nvSpPr>
        <p:spPr/>
        <p:txBody>
          <a:bodyPr/>
          <a:lstStyle/>
          <a:p>
            <a:r>
              <a:rPr lang="en-US" b="0"/>
              <a:t>Snell's Law Solution</a:t>
            </a:r>
            <a:br>
              <a:rPr lang="en-US" b="0"/>
            </a:br>
            <a:r>
              <a:rPr lang="en-US" sz="1800" b="0"/>
              <a:t> Which path Light would take?</a:t>
            </a:r>
          </a:p>
        </p:txBody>
      </p:sp>
      <p:sp>
        <p:nvSpPr>
          <p:cNvPr id="4" name="Date Placeholder 3">
            <a:extLst>
              <a:ext uri="{FF2B5EF4-FFF2-40B4-BE49-F238E27FC236}">
                <a16:creationId xmlns:a16="http://schemas.microsoft.com/office/drawing/2014/main" id="{2C8F3403-7AD1-2A45-2DC5-C2AFD14EA79E}"/>
              </a:ext>
            </a:extLst>
          </p:cNvPr>
          <p:cNvSpPr>
            <a:spLocks noGrp="1"/>
          </p:cNvSpPr>
          <p:nvPr>
            <p:ph type="dt" sz="half" idx="10"/>
          </p:nvPr>
        </p:nvSpPr>
        <p:spPr/>
        <p:txBody>
          <a:bodyPr/>
          <a:lstStyle/>
          <a:p>
            <a:fld id="{3F9F49DC-AF90-4985-830C-5891AB15E05F}" type="datetime1">
              <a:t>11/7/2025</a:t>
            </a:fld>
            <a:endParaRPr lang="en-US"/>
          </a:p>
        </p:txBody>
      </p:sp>
      <p:sp>
        <p:nvSpPr>
          <p:cNvPr id="5" name="Footer Placeholder 4">
            <a:extLst>
              <a:ext uri="{FF2B5EF4-FFF2-40B4-BE49-F238E27FC236}">
                <a16:creationId xmlns:a16="http://schemas.microsoft.com/office/drawing/2014/main" id="{33E89E67-B19D-FA8C-F561-AC4944288CC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FB8D3B0-F626-AA69-903D-EFCD3A1DB948}"/>
              </a:ext>
            </a:extLst>
          </p:cNvPr>
          <p:cNvSpPr>
            <a:spLocks noGrp="1"/>
          </p:cNvSpPr>
          <p:nvPr>
            <p:ph type="sldNum" sz="quarter" idx="12"/>
          </p:nvPr>
        </p:nvSpPr>
        <p:spPr/>
        <p:txBody>
          <a:bodyPr/>
          <a:lstStyle/>
          <a:p>
            <a:fld id="{CC057153-B650-4DEB-B370-79DDCFDCE934}" type="slidenum">
              <a:rPr lang="en-US" dirty="0"/>
              <a:t>4</a:t>
            </a:fld>
            <a:endParaRPr lang="en-US"/>
          </a:p>
        </p:txBody>
      </p:sp>
      <p:sp>
        <p:nvSpPr>
          <p:cNvPr id="9" name="Content Placeholder 11">
            <a:extLst>
              <a:ext uri="{FF2B5EF4-FFF2-40B4-BE49-F238E27FC236}">
                <a16:creationId xmlns:a16="http://schemas.microsoft.com/office/drawing/2014/main" id="{B808A636-5E6B-D1F6-BBF4-7A0B35839EF0}"/>
              </a:ext>
            </a:extLst>
          </p:cNvPr>
          <p:cNvSpPr txBox="1">
            <a:spLocks/>
          </p:cNvSpPr>
          <p:nvPr/>
        </p:nvSpPr>
        <p:spPr>
          <a:xfrm>
            <a:off x="612647" y="1584904"/>
            <a:ext cx="10653579" cy="472445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 the empirical fact that Light takes the fastest path</a:t>
            </a:r>
          </a:p>
          <a:p>
            <a:r>
              <a:rPr lang="en-US" dirty="0"/>
              <a:t>The problem is modelled as if Light is travelling through vertical column with different velocity = √ y, and the path light will take in such a scenario to travel between 2 point will be the shortest path</a:t>
            </a:r>
          </a:p>
          <a:p>
            <a:r>
              <a:rPr lang="en-US" dirty="0"/>
              <a:t>Then using Snell's law the angle      made by the path with the vertical will satisfy</a:t>
            </a:r>
          </a:p>
          <a:p>
            <a:pPr marL="0" indent="0">
              <a:buNone/>
            </a:pPr>
            <a:r>
              <a:rPr lang="en-US" dirty="0"/>
              <a:t>            constant</a:t>
            </a:r>
          </a:p>
          <a:p>
            <a:pPr marL="0" indent="0">
              <a:buNone/>
            </a:pPr>
            <a:r>
              <a:rPr lang="en-US" dirty="0"/>
              <a:t>     or             constant</a:t>
            </a:r>
          </a:p>
          <a:p>
            <a:r>
              <a:rPr lang="en-US" dirty="0"/>
              <a:t>This path is just the expression </a:t>
            </a:r>
          </a:p>
          <a:p>
            <a:pPr marL="0" indent="0">
              <a:buNone/>
            </a:pPr>
            <a:r>
              <a:rPr lang="en-US" dirty="0"/>
              <a:t>    of the path of a Cycloid</a:t>
            </a:r>
          </a:p>
          <a:p>
            <a:pPr marL="0" indent="0">
              <a:buNone/>
            </a:pPr>
            <a:r>
              <a:rPr lang="en-US" dirty="0"/>
              <a:t>          </a:t>
            </a:r>
            <a:endParaRPr lang="en-US" dirty="0">
              <a:solidFill>
                <a:srgbClr val="000000"/>
              </a:solidFill>
              <a:ea typeface="+mn-lt"/>
              <a:cs typeface="+mn-lt"/>
            </a:endParaRPr>
          </a:p>
          <a:p>
            <a:pPr marL="0" indent="0">
              <a:buNone/>
            </a:pPr>
            <a:endParaRPr lang="en-US"/>
          </a:p>
        </p:txBody>
      </p:sp>
      <p:pic>
        <p:nvPicPr>
          <p:cNvPr id="15" name="Content Placeholder 14">
            <a:extLst>
              <a:ext uri="{FF2B5EF4-FFF2-40B4-BE49-F238E27FC236}">
                <a16:creationId xmlns:a16="http://schemas.microsoft.com/office/drawing/2014/main" id="{B29B0DDF-32FD-3E26-502B-BB5ED0A12834}"/>
              </a:ext>
            </a:extLst>
          </p:cNvPr>
          <p:cNvPicPr>
            <a:picLocks noGrp="1" noChangeAspect="1"/>
          </p:cNvPicPr>
          <p:nvPr>
            <p:ph idx="1"/>
          </p:nvPr>
        </p:nvPicPr>
        <p:blipFill>
          <a:blip r:embed="rId2"/>
          <a:stretch>
            <a:fillRect/>
          </a:stretch>
        </p:blipFill>
        <p:spPr>
          <a:xfrm>
            <a:off x="5154516" y="3803315"/>
            <a:ext cx="6110612" cy="2380440"/>
          </a:xfrm>
          <a:prstGeom prst="rect">
            <a:avLst/>
          </a:prstGeom>
        </p:spPr>
      </p:pic>
      <p:pic>
        <p:nvPicPr>
          <p:cNvPr id="3" name="Picture 2" descr="A black and white math equation&#10;&#10;AI-generated content may be incorrect.">
            <a:extLst>
              <a:ext uri="{FF2B5EF4-FFF2-40B4-BE49-F238E27FC236}">
                <a16:creationId xmlns:a16="http://schemas.microsoft.com/office/drawing/2014/main" id="{499536A4-4023-3E43-8CFC-9AA982ADEAE1}"/>
              </a:ext>
            </a:extLst>
          </p:cNvPr>
          <p:cNvPicPr>
            <a:picLocks noChangeAspect="1"/>
          </p:cNvPicPr>
          <p:nvPr/>
        </p:nvPicPr>
        <p:blipFill>
          <a:blip r:embed="rId3"/>
          <a:srcRect r="752" b="13725"/>
          <a:stretch>
            <a:fillRect/>
          </a:stretch>
        </p:blipFill>
        <p:spPr>
          <a:xfrm>
            <a:off x="1010390" y="4240099"/>
            <a:ext cx="975443" cy="652466"/>
          </a:xfrm>
          <a:prstGeom prst="rect">
            <a:avLst/>
          </a:prstGeom>
        </p:spPr>
      </p:pic>
      <p:pic>
        <p:nvPicPr>
          <p:cNvPr id="8" name="Picture 7" descr="A mathematical equation with black text&#10;&#10;AI-generated content may be incorrect.">
            <a:extLst>
              <a:ext uri="{FF2B5EF4-FFF2-40B4-BE49-F238E27FC236}">
                <a16:creationId xmlns:a16="http://schemas.microsoft.com/office/drawing/2014/main" id="{DB396FD9-BEEB-2F37-9E0A-52B7150CD0A4}"/>
              </a:ext>
            </a:extLst>
          </p:cNvPr>
          <p:cNvPicPr>
            <a:picLocks noChangeAspect="1"/>
          </p:cNvPicPr>
          <p:nvPr/>
        </p:nvPicPr>
        <p:blipFill>
          <a:blip r:embed="rId4"/>
          <a:stretch>
            <a:fillRect/>
          </a:stretch>
        </p:blipFill>
        <p:spPr>
          <a:xfrm>
            <a:off x="913534" y="3805670"/>
            <a:ext cx="929987" cy="542060"/>
          </a:xfrm>
          <a:prstGeom prst="rect">
            <a:avLst/>
          </a:prstGeom>
        </p:spPr>
      </p:pic>
      <p:pic>
        <p:nvPicPr>
          <p:cNvPr id="10" name="Picture 9" descr="A black letter on a white background&#10;&#10;AI-generated content may be incorrect.">
            <a:extLst>
              <a:ext uri="{FF2B5EF4-FFF2-40B4-BE49-F238E27FC236}">
                <a16:creationId xmlns:a16="http://schemas.microsoft.com/office/drawing/2014/main" id="{2F439937-C129-40AF-33E1-31CF41144B68}"/>
              </a:ext>
            </a:extLst>
          </p:cNvPr>
          <p:cNvPicPr>
            <a:picLocks noChangeAspect="1"/>
          </p:cNvPicPr>
          <p:nvPr/>
        </p:nvPicPr>
        <p:blipFill>
          <a:blip r:embed="rId5"/>
          <a:stretch>
            <a:fillRect/>
          </a:stretch>
        </p:blipFill>
        <p:spPr>
          <a:xfrm>
            <a:off x="4737947" y="3362770"/>
            <a:ext cx="243139" cy="285328"/>
          </a:xfrm>
          <a:prstGeom prst="rect">
            <a:avLst/>
          </a:prstGeom>
        </p:spPr>
      </p:pic>
    </p:spTree>
    <p:extLst>
      <p:ext uri="{BB962C8B-B14F-4D97-AF65-F5344CB8AC3E}">
        <p14:creationId xmlns:p14="http://schemas.microsoft.com/office/powerpoint/2010/main" val="2350526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9516-134B-798F-73C2-EF116DD9D2A2}"/>
              </a:ext>
            </a:extLst>
          </p:cNvPr>
          <p:cNvSpPr>
            <a:spLocks noGrp="1"/>
          </p:cNvSpPr>
          <p:nvPr>
            <p:ph type="title"/>
          </p:nvPr>
        </p:nvSpPr>
        <p:spPr/>
        <p:txBody>
          <a:bodyPr/>
          <a:lstStyle/>
          <a:p>
            <a:r>
              <a:rPr lang="en-US" b="0"/>
              <a:t>Existing Analytical Solution</a:t>
            </a:r>
            <a:endParaRPr lang="en-US"/>
          </a:p>
        </p:txBody>
      </p:sp>
      <p:sp>
        <p:nvSpPr>
          <p:cNvPr id="3" name="Content Placeholder 2">
            <a:extLst>
              <a:ext uri="{FF2B5EF4-FFF2-40B4-BE49-F238E27FC236}">
                <a16:creationId xmlns:a16="http://schemas.microsoft.com/office/drawing/2014/main" id="{8B079128-9479-A3A4-D79F-33230FDF4208}"/>
              </a:ext>
            </a:extLst>
          </p:cNvPr>
          <p:cNvSpPr>
            <a:spLocks noGrp="1"/>
          </p:cNvSpPr>
          <p:nvPr>
            <p:ph idx="1"/>
          </p:nvPr>
        </p:nvSpPr>
        <p:spPr>
          <a:xfrm>
            <a:off x="600438" y="1498637"/>
            <a:ext cx="7051557" cy="4653068"/>
          </a:xfrm>
        </p:spPr>
        <p:txBody>
          <a:bodyPr vert="horz" lIns="91440" tIns="45720" rIns="91440" bIns="45720" rtlCol="0" anchor="t">
            <a:normAutofit/>
          </a:bodyPr>
          <a:lstStyle/>
          <a:p>
            <a:r>
              <a:rPr lang="en-US"/>
              <a:t>The Time to traverse a segment of the curve is given by: </a:t>
            </a:r>
          </a:p>
          <a:p>
            <a:endParaRPr lang="en-US"/>
          </a:p>
          <a:p>
            <a:endParaRPr lang="en-US">
              <a:latin typeface="Neue Haas Grotesk Text Pro"/>
              <a:cs typeface="Helvetica"/>
            </a:endParaRPr>
          </a:p>
          <a:p>
            <a:r>
              <a:rPr lang="en-US">
                <a:latin typeface="Neue Haas Grotesk Text Pro"/>
                <a:cs typeface="Helvetica"/>
              </a:rPr>
              <a:t>This equation may be simplified to:</a:t>
            </a:r>
            <a:endParaRPr lang="en-US">
              <a:ea typeface="+mn-lt"/>
              <a:cs typeface="Helvetica"/>
            </a:endParaRPr>
          </a:p>
          <a:p>
            <a:endParaRPr lang="en-US">
              <a:latin typeface="Neue Haas Grotesk Text Pro"/>
              <a:cs typeface="Helvetica"/>
            </a:endParaRPr>
          </a:p>
          <a:p>
            <a:r>
              <a:rPr lang="en-US">
                <a:latin typeface="Neue Haas Grotesk Text Pro"/>
                <a:cs typeface="Helvetica"/>
              </a:rPr>
              <a:t>The solution curve of the equation given as parametric equations of an upside down cycloid are:</a:t>
            </a:r>
          </a:p>
          <a:p>
            <a:endParaRPr lang="en-US">
              <a:cs typeface="Helvetica"/>
            </a:endParaRPr>
          </a:p>
          <a:p>
            <a:endParaRPr lang="en-US">
              <a:cs typeface="Helvetica"/>
            </a:endParaRPr>
          </a:p>
          <a:p>
            <a:endParaRPr lang="en-US">
              <a:cs typeface="Helvetica"/>
            </a:endParaRPr>
          </a:p>
          <a:p>
            <a:endParaRPr lang="en-US"/>
          </a:p>
        </p:txBody>
      </p:sp>
      <p:sp>
        <p:nvSpPr>
          <p:cNvPr id="4" name="Date Placeholder 3">
            <a:extLst>
              <a:ext uri="{FF2B5EF4-FFF2-40B4-BE49-F238E27FC236}">
                <a16:creationId xmlns:a16="http://schemas.microsoft.com/office/drawing/2014/main" id="{E814458E-7E62-6713-6697-96B8E34DC889}"/>
              </a:ext>
            </a:extLst>
          </p:cNvPr>
          <p:cNvSpPr>
            <a:spLocks noGrp="1"/>
          </p:cNvSpPr>
          <p:nvPr>
            <p:ph type="dt" sz="half" idx="10"/>
          </p:nvPr>
        </p:nvSpPr>
        <p:spPr/>
        <p:txBody>
          <a:bodyPr/>
          <a:lstStyle/>
          <a:p>
            <a:fld id="{717944AD-E588-48B9-B1B1-37C24E45AC42}" type="datetime1">
              <a:t>11/7/2025</a:t>
            </a:fld>
            <a:endParaRPr lang="en-US"/>
          </a:p>
        </p:txBody>
      </p:sp>
      <p:sp>
        <p:nvSpPr>
          <p:cNvPr id="5" name="Footer Placeholder 4">
            <a:extLst>
              <a:ext uri="{FF2B5EF4-FFF2-40B4-BE49-F238E27FC236}">
                <a16:creationId xmlns:a16="http://schemas.microsoft.com/office/drawing/2014/main" id="{E1219BA6-5B7C-8D34-2288-2B6FD338CC4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38FE4C2-80A0-13E6-C0D9-4F963992C504}"/>
              </a:ext>
            </a:extLst>
          </p:cNvPr>
          <p:cNvSpPr>
            <a:spLocks noGrp="1"/>
          </p:cNvSpPr>
          <p:nvPr>
            <p:ph type="sldNum" sz="quarter" idx="12"/>
          </p:nvPr>
        </p:nvSpPr>
        <p:spPr/>
        <p:txBody>
          <a:bodyPr/>
          <a:lstStyle/>
          <a:p>
            <a:fld id="{CC057153-B650-4DEB-B370-79DDCFDCE934}" type="slidenum">
              <a:rPr lang="en-US" dirty="0"/>
              <a:t>5</a:t>
            </a:fld>
            <a:endParaRPr lang="en-US"/>
          </a:p>
        </p:txBody>
      </p:sp>
      <p:pic>
        <p:nvPicPr>
          <p:cNvPr id="10" name="Content Placeholder 6">
            <a:extLst>
              <a:ext uri="{FF2B5EF4-FFF2-40B4-BE49-F238E27FC236}">
                <a16:creationId xmlns:a16="http://schemas.microsoft.com/office/drawing/2014/main" id="{0AD74D2D-A16A-BDF4-8AD0-57712B1C219E}"/>
              </a:ext>
            </a:extLst>
          </p:cNvPr>
          <p:cNvPicPr>
            <a:picLocks noChangeAspect="1"/>
          </p:cNvPicPr>
          <p:nvPr/>
        </p:nvPicPr>
        <p:blipFill>
          <a:blip r:embed="rId3"/>
          <a:srcRect l="6379" t="12903" r="-6567" b="7742"/>
          <a:stretch>
            <a:fillRect/>
          </a:stretch>
        </p:blipFill>
        <p:spPr>
          <a:xfrm>
            <a:off x="955839" y="1944777"/>
            <a:ext cx="3768473" cy="1010472"/>
          </a:xfrm>
          <a:prstGeom prst="rect">
            <a:avLst/>
          </a:prstGeom>
        </p:spPr>
      </p:pic>
      <p:pic>
        <p:nvPicPr>
          <p:cNvPr id="13" name="Picture 12">
            <a:extLst>
              <a:ext uri="{FF2B5EF4-FFF2-40B4-BE49-F238E27FC236}">
                <a16:creationId xmlns:a16="http://schemas.microsoft.com/office/drawing/2014/main" id="{2C7E0623-2A54-F8CA-D2E9-1D3AC75D3631}"/>
              </a:ext>
            </a:extLst>
          </p:cNvPr>
          <p:cNvPicPr>
            <a:picLocks noChangeAspect="1"/>
          </p:cNvPicPr>
          <p:nvPr/>
        </p:nvPicPr>
        <p:blipFill>
          <a:blip r:embed="rId4"/>
          <a:stretch>
            <a:fillRect/>
          </a:stretch>
        </p:blipFill>
        <p:spPr>
          <a:xfrm>
            <a:off x="953935" y="5007280"/>
            <a:ext cx="4056702" cy="1005709"/>
          </a:xfrm>
          <a:prstGeom prst="rect">
            <a:avLst/>
          </a:prstGeom>
        </p:spPr>
      </p:pic>
      <p:pic>
        <p:nvPicPr>
          <p:cNvPr id="16" name="Picture 15">
            <a:extLst>
              <a:ext uri="{FF2B5EF4-FFF2-40B4-BE49-F238E27FC236}">
                <a16:creationId xmlns:a16="http://schemas.microsoft.com/office/drawing/2014/main" id="{34907A07-233E-5AE2-788E-3CBEB0F5E856}"/>
              </a:ext>
            </a:extLst>
          </p:cNvPr>
          <p:cNvPicPr>
            <a:picLocks noChangeAspect="1"/>
          </p:cNvPicPr>
          <p:nvPr/>
        </p:nvPicPr>
        <p:blipFill>
          <a:blip r:embed="rId5"/>
          <a:stretch>
            <a:fillRect/>
          </a:stretch>
        </p:blipFill>
        <p:spPr>
          <a:xfrm>
            <a:off x="7620195" y="1214157"/>
            <a:ext cx="4063665" cy="4430217"/>
          </a:xfrm>
          <a:prstGeom prst="rect">
            <a:avLst/>
          </a:prstGeom>
        </p:spPr>
      </p:pic>
      <p:pic>
        <p:nvPicPr>
          <p:cNvPr id="7" name="Picture 6">
            <a:extLst>
              <a:ext uri="{FF2B5EF4-FFF2-40B4-BE49-F238E27FC236}">
                <a16:creationId xmlns:a16="http://schemas.microsoft.com/office/drawing/2014/main" id="{72B4B9D2-0E3F-A97C-4FC3-F818E857C01D}"/>
              </a:ext>
            </a:extLst>
          </p:cNvPr>
          <p:cNvPicPr>
            <a:picLocks noChangeAspect="1"/>
          </p:cNvPicPr>
          <p:nvPr/>
        </p:nvPicPr>
        <p:blipFill>
          <a:blip r:embed="rId6"/>
          <a:srcRect l="4377" r="168" b="1333"/>
          <a:stretch>
            <a:fillRect/>
          </a:stretch>
        </p:blipFill>
        <p:spPr>
          <a:xfrm>
            <a:off x="958335" y="3429627"/>
            <a:ext cx="4098352" cy="566351"/>
          </a:xfrm>
          <a:prstGeom prst="rect">
            <a:avLst/>
          </a:prstGeom>
        </p:spPr>
      </p:pic>
    </p:spTree>
    <p:extLst>
      <p:ext uri="{BB962C8B-B14F-4D97-AF65-F5344CB8AC3E}">
        <p14:creationId xmlns:p14="http://schemas.microsoft.com/office/powerpoint/2010/main" val="4806600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2340-9901-58E5-46FC-92A7F0859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FC410-E986-1A83-03A1-C8AC31D7E923}"/>
              </a:ext>
            </a:extLst>
          </p:cNvPr>
          <p:cNvSpPr>
            <a:spLocks noGrp="1"/>
          </p:cNvSpPr>
          <p:nvPr>
            <p:ph type="title"/>
          </p:nvPr>
        </p:nvSpPr>
        <p:spPr/>
        <p:txBody>
          <a:bodyPr/>
          <a:lstStyle/>
          <a:p>
            <a:r>
              <a:rPr lang="en-US" b="0" dirty="0"/>
              <a:t>Motivation</a:t>
            </a:r>
          </a:p>
        </p:txBody>
      </p:sp>
      <p:sp>
        <p:nvSpPr>
          <p:cNvPr id="3" name="Content Placeholder 2">
            <a:extLst>
              <a:ext uri="{FF2B5EF4-FFF2-40B4-BE49-F238E27FC236}">
                <a16:creationId xmlns:a16="http://schemas.microsoft.com/office/drawing/2014/main" id="{227915F2-3CB6-6FE3-9FB4-E6217B7A22C7}"/>
              </a:ext>
            </a:extLst>
          </p:cNvPr>
          <p:cNvSpPr>
            <a:spLocks noGrp="1"/>
          </p:cNvSpPr>
          <p:nvPr>
            <p:ph idx="1"/>
          </p:nvPr>
        </p:nvSpPr>
        <p:spPr>
          <a:xfrm>
            <a:off x="612647" y="1132487"/>
            <a:ext cx="10653579" cy="4593828"/>
          </a:xfrm>
        </p:spPr>
        <p:txBody>
          <a:bodyPr vert="horz" lIns="91440" tIns="45720" rIns="91440" bIns="45720" rtlCol="0" anchor="t">
            <a:normAutofit fontScale="92500"/>
          </a:bodyPr>
          <a:lstStyle/>
          <a:p>
            <a:pPr marL="342900" indent="-342900"/>
            <a:r>
              <a:rPr lang="en-US" dirty="0">
                <a:solidFill>
                  <a:srgbClr val="262626"/>
                </a:solidFill>
                <a:latin typeface="helvetica"/>
                <a:ea typeface="+mn-lt"/>
                <a:cs typeface="+mn-lt"/>
              </a:rPr>
              <a:t>Computers work in discrete steps and use floating-point numbers, which can cause rounding errors. These small errors can build up over time, so we use </a:t>
            </a:r>
            <a:r>
              <a:rPr lang="en-US" i="1" dirty="0">
                <a:solidFill>
                  <a:srgbClr val="262626"/>
                </a:solidFill>
                <a:latin typeface="helvetica"/>
                <a:ea typeface="+mn-lt"/>
                <a:cs typeface="+mn-lt"/>
              </a:rPr>
              <a:t>interval arithmetic</a:t>
            </a:r>
            <a:r>
              <a:rPr lang="en-US" dirty="0">
                <a:solidFill>
                  <a:srgbClr val="262626"/>
                </a:solidFill>
                <a:latin typeface="helvetica"/>
                <a:ea typeface="+mn-lt"/>
                <a:cs typeface="+mn-lt"/>
              </a:rPr>
              <a:t> to track possible ranges of values and keep the results accurate.</a:t>
            </a:r>
          </a:p>
          <a:p>
            <a:pPr marL="342900" indent="-342900"/>
            <a:r>
              <a:rPr lang="en-US" dirty="0">
                <a:solidFill>
                  <a:srgbClr val="262626"/>
                </a:solidFill>
                <a:latin typeface="helvetica"/>
                <a:ea typeface="+mn-lt"/>
                <a:cs typeface="helvetica"/>
              </a:rPr>
              <a:t>When we use Taylor series, we get polynomial equations. These can be solved accurately using interval version of Newton-Raphson method, which gives guaranteed bounds on the answer.</a:t>
            </a:r>
            <a:endParaRPr lang="en-US">
              <a:solidFill>
                <a:srgbClr val="262626"/>
              </a:solidFill>
              <a:latin typeface="helvetica"/>
              <a:ea typeface="+mn-lt"/>
              <a:cs typeface="helvetica"/>
            </a:endParaRPr>
          </a:p>
          <a:p>
            <a:pPr marL="342900" indent="-342900"/>
            <a:r>
              <a:rPr lang="en-US" dirty="0">
                <a:solidFill>
                  <a:srgbClr val="262626"/>
                </a:solidFill>
                <a:latin typeface="helvetica"/>
                <a:ea typeface="+mn-lt"/>
                <a:cs typeface="helvetica"/>
              </a:rPr>
              <a:t>Intervals appear naturally in math. For example, in the Mean Value Theorem:                                                                                                        with                      cannot be treated numerically in real numbers because     is unknown. But the relation                                                        with</a:t>
            </a:r>
            <a:r>
              <a:rPr lang="en-US" dirty="0">
                <a:solidFill>
                  <a:srgbClr val="000000"/>
                </a:solidFill>
                <a:latin typeface="Neue Haas Grotesk Text Pro"/>
                <a:ea typeface="+mn-lt"/>
                <a:cs typeface="helvetica"/>
              </a:rPr>
              <a:t> </a:t>
            </a:r>
            <a:r>
              <a:rPr lang="en-US" dirty="0">
                <a:solidFill>
                  <a:srgbClr val="262626"/>
                </a:solidFill>
                <a:latin typeface="helvetica"/>
                <a:ea typeface="+mn-lt"/>
                <a:cs typeface="helvetica"/>
              </a:rPr>
              <a:t>                   can be used numerically with the aid of interval analysis.</a:t>
            </a:r>
            <a:endParaRPr lang="en-US" dirty="0">
              <a:solidFill>
                <a:srgbClr val="262626"/>
              </a:solidFill>
              <a:latin typeface="helvetica"/>
              <a:cs typeface="helvetica"/>
            </a:endParaRPr>
          </a:p>
          <a:p>
            <a:pPr marL="342900" lvl="1" indent="0">
              <a:buNone/>
            </a:pPr>
            <a:endParaRPr lang="en-US" dirty="0">
              <a:solidFill>
                <a:srgbClr val="262626"/>
              </a:solidFill>
              <a:latin typeface="helvetica"/>
              <a:ea typeface="+mn-lt"/>
              <a:cs typeface="helvetica"/>
            </a:endParaRPr>
          </a:p>
          <a:p>
            <a:pPr marL="342900" indent="-342900"/>
            <a:endParaRPr lang="en-US" dirty="0">
              <a:solidFill>
                <a:srgbClr val="262626"/>
              </a:solidFill>
              <a:latin typeface="helvetica"/>
              <a:ea typeface="+mn-lt"/>
              <a:cs typeface="helvetica"/>
            </a:endParaRPr>
          </a:p>
        </p:txBody>
      </p:sp>
      <p:sp>
        <p:nvSpPr>
          <p:cNvPr id="4" name="Date Placeholder 3">
            <a:extLst>
              <a:ext uri="{FF2B5EF4-FFF2-40B4-BE49-F238E27FC236}">
                <a16:creationId xmlns:a16="http://schemas.microsoft.com/office/drawing/2014/main" id="{AE701BDA-EF86-B585-DBD8-5CA511F04F63}"/>
              </a:ext>
            </a:extLst>
          </p:cNvPr>
          <p:cNvSpPr>
            <a:spLocks noGrp="1"/>
          </p:cNvSpPr>
          <p:nvPr>
            <p:ph type="dt" sz="half" idx="10"/>
          </p:nvPr>
        </p:nvSpPr>
        <p:spPr/>
        <p:txBody>
          <a:bodyPr/>
          <a:lstStyle/>
          <a:p>
            <a:fld id="{A9790DD2-62DF-4338-B63B-7812D0DF161E}" type="datetime1">
              <a:t>11/7/2025</a:t>
            </a:fld>
            <a:endParaRPr lang="en-US"/>
          </a:p>
        </p:txBody>
      </p:sp>
      <p:sp>
        <p:nvSpPr>
          <p:cNvPr id="5" name="Footer Placeholder 4">
            <a:extLst>
              <a:ext uri="{FF2B5EF4-FFF2-40B4-BE49-F238E27FC236}">
                <a16:creationId xmlns:a16="http://schemas.microsoft.com/office/drawing/2014/main" id="{5BA3C4EF-E3D5-CF39-D815-7E0487C66FA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B806C79-EEAD-F84E-5339-9823858ED3B6}"/>
              </a:ext>
            </a:extLst>
          </p:cNvPr>
          <p:cNvSpPr>
            <a:spLocks noGrp="1"/>
          </p:cNvSpPr>
          <p:nvPr>
            <p:ph type="sldNum" sz="quarter" idx="12"/>
          </p:nvPr>
        </p:nvSpPr>
        <p:spPr/>
        <p:txBody>
          <a:bodyPr/>
          <a:lstStyle/>
          <a:p>
            <a:fld id="{CC057153-B650-4DEB-B370-79DDCFDCE934}" type="slidenum">
              <a:rPr lang="en-US" dirty="0"/>
              <a:t>6</a:t>
            </a:fld>
            <a:endParaRPr lang="en-US"/>
          </a:p>
        </p:txBody>
      </p:sp>
      <p:pic>
        <p:nvPicPr>
          <p:cNvPr id="16" name="Picture 15" descr="A group of circles with a plus and a cross&#10;&#10;AI-generated content may be incorrect.">
            <a:extLst>
              <a:ext uri="{FF2B5EF4-FFF2-40B4-BE49-F238E27FC236}">
                <a16:creationId xmlns:a16="http://schemas.microsoft.com/office/drawing/2014/main" id="{17BF8B73-2461-613A-DED7-BCECDCB84327}"/>
              </a:ext>
            </a:extLst>
          </p:cNvPr>
          <p:cNvPicPr>
            <a:picLocks noChangeAspect="1"/>
          </p:cNvPicPr>
          <p:nvPr/>
        </p:nvPicPr>
        <p:blipFill>
          <a:blip r:embed="rId3"/>
          <a:srcRect l="282" t="11009" r="1269" b="13508"/>
          <a:stretch>
            <a:fillRect/>
          </a:stretch>
        </p:blipFill>
        <p:spPr>
          <a:xfrm>
            <a:off x="973282" y="3800137"/>
            <a:ext cx="3408192" cy="402630"/>
          </a:xfrm>
          <a:prstGeom prst="rect">
            <a:avLst/>
          </a:prstGeom>
        </p:spPr>
      </p:pic>
      <p:pic>
        <p:nvPicPr>
          <p:cNvPr id="18" name="Picture 17" descr="A group of black symbols&#10;&#10;AI-generated content may be incorrect.">
            <a:extLst>
              <a:ext uri="{FF2B5EF4-FFF2-40B4-BE49-F238E27FC236}">
                <a16:creationId xmlns:a16="http://schemas.microsoft.com/office/drawing/2014/main" id="{FCBB6C0F-074D-537B-BB03-B99382C33892}"/>
              </a:ext>
            </a:extLst>
          </p:cNvPr>
          <p:cNvPicPr>
            <a:picLocks noChangeAspect="1"/>
          </p:cNvPicPr>
          <p:nvPr/>
        </p:nvPicPr>
        <p:blipFill>
          <a:blip r:embed="rId4"/>
          <a:srcRect l="3704" r="4630" b="13901"/>
          <a:stretch>
            <a:fillRect/>
          </a:stretch>
        </p:blipFill>
        <p:spPr>
          <a:xfrm>
            <a:off x="4952134" y="3801518"/>
            <a:ext cx="1320681" cy="395069"/>
          </a:xfrm>
          <a:prstGeom prst="rect">
            <a:avLst/>
          </a:prstGeom>
        </p:spPr>
      </p:pic>
      <p:pic>
        <p:nvPicPr>
          <p:cNvPr id="20" name="Picture 19">
            <a:extLst>
              <a:ext uri="{FF2B5EF4-FFF2-40B4-BE49-F238E27FC236}">
                <a16:creationId xmlns:a16="http://schemas.microsoft.com/office/drawing/2014/main" id="{6862A188-AF7A-D761-63B7-848BF5EA44F5}"/>
              </a:ext>
            </a:extLst>
          </p:cNvPr>
          <p:cNvPicPr>
            <a:picLocks noChangeAspect="1"/>
          </p:cNvPicPr>
          <p:nvPr/>
        </p:nvPicPr>
        <p:blipFill>
          <a:blip r:embed="rId5"/>
          <a:stretch>
            <a:fillRect/>
          </a:stretch>
        </p:blipFill>
        <p:spPr>
          <a:xfrm>
            <a:off x="3008156" y="4195565"/>
            <a:ext cx="242538" cy="270822"/>
          </a:xfrm>
          <a:prstGeom prst="rect">
            <a:avLst/>
          </a:prstGeom>
        </p:spPr>
      </p:pic>
      <p:pic>
        <p:nvPicPr>
          <p:cNvPr id="21" name="Picture 20">
            <a:extLst>
              <a:ext uri="{FF2B5EF4-FFF2-40B4-BE49-F238E27FC236}">
                <a16:creationId xmlns:a16="http://schemas.microsoft.com/office/drawing/2014/main" id="{064C1C11-D963-2A00-DDDD-583F067F5F90}"/>
              </a:ext>
            </a:extLst>
          </p:cNvPr>
          <p:cNvPicPr>
            <a:picLocks noChangeAspect="1"/>
          </p:cNvPicPr>
          <p:nvPr/>
        </p:nvPicPr>
        <p:blipFill>
          <a:blip r:embed="rId6"/>
          <a:srcRect l="1183" t="2021" r="-468" b="10994"/>
          <a:stretch>
            <a:fillRect/>
          </a:stretch>
        </p:blipFill>
        <p:spPr>
          <a:xfrm>
            <a:off x="6364376" y="4193094"/>
            <a:ext cx="3476847" cy="275319"/>
          </a:xfrm>
          <a:prstGeom prst="rect">
            <a:avLst/>
          </a:prstGeom>
        </p:spPr>
      </p:pic>
      <p:pic>
        <p:nvPicPr>
          <p:cNvPr id="22" name="Picture 21">
            <a:extLst>
              <a:ext uri="{FF2B5EF4-FFF2-40B4-BE49-F238E27FC236}">
                <a16:creationId xmlns:a16="http://schemas.microsoft.com/office/drawing/2014/main" id="{2307EB0F-4666-8A41-9124-B2586A12E305}"/>
              </a:ext>
            </a:extLst>
          </p:cNvPr>
          <p:cNvPicPr>
            <a:picLocks noChangeAspect="1"/>
          </p:cNvPicPr>
          <p:nvPr/>
        </p:nvPicPr>
        <p:blipFill>
          <a:blip r:embed="rId7"/>
          <a:stretch>
            <a:fillRect/>
          </a:stretch>
        </p:blipFill>
        <p:spPr>
          <a:xfrm>
            <a:off x="1597741" y="4553355"/>
            <a:ext cx="1293395" cy="287756"/>
          </a:xfrm>
          <a:prstGeom prst="rect">
            <a:avLst/>
          </a:prstGeom>
        </p:spPr>
      </p:pic>
    </p:spTree>
    <p:extLst>
      <p:ext uri="{BB962C8B-B14F-4D97-AF65-F5344CB8AC3E}">
        <p14:creationId xmlns:p14="http://schemas.microsoft.com/office/powerpoint/2010/main" val="297639506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A8738-533E-06ED-1382-B2034E102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770C9-E3EE-B3DA-6502-F37FE9E6B653}"/>
              </a:ext>
            </a:extLst>
          </p:cNvPr>
          <p:cNvSpPr>
            <a:spLocks noGrp="1"/>
          </p:cNvSpPr>
          <p:nvPr>
            <p:ph type="title"/>
          </p:nvPr>
        </p:nvSpPr>
        <p:spPr/>
        <p:txBody>
          <a:bodyPr/>
          <a:lstStyle/>
          <a:p>
            <a:r>
              <a:rPr lang="en-US" b="0" dirty="0"/>
              <a:t>Motivation</a:t>
            </a:r>
          </a:p>
        </p:txBody>
      </p:sp>
      <p:sp>
        <p:nvSpPr>
          <p:cNvPr id="3" name="Content Placeholder 2">
            <a:extLst>
              <a:ext uri="{FF2B5EF4-FFF2-40B4-BE49-F238E27FC236}">
                <a16:creationId xmlns:a16="http://schemas.microsoft.com/office/drawing/2014/main" id="{D7D6226E-7EB5-2152-16C0-02F7FCF38D81}"/>
              </a:ext>
            </a:extLst>
          </p:cNvPr>
          <p:cNvSpPr>
            <a:spLocks noGrp="1"/>
          </p:cNvSpPr>
          <p:nvPr>
            <p:ph idx="1"/>
          </p:nvPr>
        </p:nvSpPr>
        <p:spPr/>
        <p:txBody>
          <a:bodyPr vert="horz" lIns="91440" tIns="45720" rIns="91440" bIns="45720" rtlCol="0" anchor="t">
            <a:normAutofit/>
          </a:bodyPr>
          <a:lstStyle/>
          <a:p>
            <a:pPr marL="342900" indent="-342900"/>
            <a:r>
              <a:rPr lang="en-US" dirty="0">
                <a:solidFill>
                  <a:srgbClr val="262626"/>
                </a:solidFill>
                <a:latin typeface="helvetica"/>
                <a:ea typeface="+mn-lt"/>
                <a:cs typeface="+mn-lt"/>
              </a:rPr>
              <a:t>Computers work in discrete steps and use floating-point numbers, which can cause rounding errors. These small errors can build up over time, so we use </a:t>
            </a:r>
            <a:r>
              <a:rPr lang="en-US" i="1" dirty="0">
                <a:solidFill>
                  <a:srgbClr val="262626"/>
                </a:solidFill>
                <a:latin typeface="helvetica"/>
                <a:ea typeface="+mn-lt"/>
                <a:cs typeface="+mn-lt"/>
              </a:rPr>
              <a:t>interval arithmetic</a:t>
            </a:r>
            <a:r>
              <a:rPr lang="en-US" dirty="0">
                <a:solidFill>
                  <a:srgbClr val="262626"/>
                </a:solidFill>
                <a:latin typeface="helvetica"/>
                <a:ea typeface="+mn-lt"/>
                <a:cs typeface="+mn-lt"/>
              </a:rPr>
              <a:t> to track possible ranges of values and keep the results accurate.</a:t>
            </a:r>
          </a:p>
          <a:p>
            <a:pPr marL="342900" indent="-342900"/>
            <a:r>
              <a:rPr lang="en-US" dirty="0">
                <a:solidFill>
                  <a:srgbClr val="262626"/>
                </a:solidFill>
                <a:latin typeface="helvetica"/>
                <a:ea typeface="+mn-lt"/>
                <a:cs typeface="helvetica"/>
              </a:rPr>
              <a:t>Intervals appear naturally in math. For </a:t>
            </a:r>
            <a:r>
              <a:rPr lang="en-US">
                <a:solidFill>
                  <a:srgbClr val="262626"/>
                </a:solidFill>
                <a:latin typeface="helvetica"/>
                <a:ea typeface="+mn-lt"/>
                <a:cs typeface="helvetica"/>
              </a:rPr>
              <a:t>example, in the Mean Value Theorem:</a:t>
            </a:r>
          </a:p>
        </p:txBody>
      </p:sp>
      <p:sp>
        <p:nvSpPr>
          <p:cNvPr id="4" name="Date Placeholder 3">
            <a:extLst>
              <a:ext uri="{FF2B5EF4-FFF2-40B4-BE49-F238E27FC236}">
                <a16:creationId xmlns:a16="http://schemas.microsoft.com/office/drawing/2014/main" id="{EE2208F6-1B7D-A3E1-198E-E2B4D4F43A2B}"/>
              </a:ext>
            </a:extLst>
          </p:cNvPr>
          <p:cNvSpPr>
            <a:spLocks noGrp="1"/>
          </p:cNvSpPr>
          <p:nvPr>
            <p:ph type="dt" sz="half" idx="10"/>
          </p:nvPr>
        </p:nvSpPr>
        <p:spPr/>
        <p:txBody>
          <a:bodyPr/>
          <a:lstStyle/>
          <a:p>
            <a:fld id="{A9790DD2-62DF-4338-B63B-7812D0DF161E}" type="datetime1">
              <a:t>11/7/2025</a:t>
            </a:fld>
            <a:endParaRPr lang="en-US"/>
          </a:p>
        </p:txBody>
      </p:sp>
      <p:sp>
        <p:nvSpPr>
          <p:cNvPr id="5" name="Footer Placeholder 4">
            <a:extLst>
              <a:ext uri="{FF2B5EF4-FFF2-40B4-BE49-F238E27FC236}">
                <a16:creationId xmlns:a16="http://schemas.microsoft.com/office/drawing/2014/main" id="{B7CFA454-12E7-2288-A882-C3DE16385AF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9C85FF6-9748-0579-F957-9E69BA2ED797}"/>
              </a:ext>
            </a:extLst>
          </p:cNvPr>
          <p:cNvSpPr>
            <a:spLocks noGrp="1"/>
          </p:cNvSpPr>
          <p:nvPr>
            <p:ph type="sldNum" sz="quarter" idx="12"/>
          </p:nvPr>
        </p:nvSpPr>
        <p:spPr/>
        <p:txBody>
          <a:bodyPr/>
          <a:lstStyle/>
          <a:p>
            <a:fld id="{CC057153-B650-4DEB-B370-79DDCFDCE934}" type="slidenum">
              <a:rPr lang="en-US" dirty="0"/>
              <a:t>7</a:t>
            </a:fld>
            <a:endParaRPr lang="en-US"/>
          </a:p>
        </p:txBody>
      </p:sp>
      <p:pic>
        <p:nvPicPr>
          <p:cNvPr id="10" name="Picture 9" descr="A group of circles with a plus and a cross&#10;&#10;AI-generated content may be incorrect.">
            <a:extLst>
              <a:ext uri="{FF2B5EF4-FFF2-40B4-BE49-F238E27FC236}">
                <a16:creationId xmlns:a16="http://schemas.microsoft.com/office/drawing/2014/main" id="{7F654383-1CA2-5074-FEF9-4B5EFEC8ED96}"/>
              </a:ext>
            </a:extLst>
          </p:cNvPr>
          <p:cNvPicPr>
            <a:picLocks noChangeAspect="1"/>
          </p:cNvPicPr>
          <p:nvPr/>
        </p:nvPicPr>
        <p:blipFill>
          <a:blip r:embed="rId3"/>
          <a:stretch>
            <a:fillRect/>
          </a:stretch>
        </p:blipFill>
        <p:spPr>
          <a:xfrm>
            <a:off x="1083252" y="3448049"/>
            <a:ext cx="3600451" cy="556492"/>
          </a:xfrm>
          <a:prstGeom prst="rect">
            <a:avLst/>
          </a:prstGeom>
        </p:spPr>
      </p:pic>
      <p:sp>
        <p:nvSpPr>
          <p:cNvPr id="11" name="TextBox 10">
            <a:extLst>
              <a:ext uri="{FF2B5EF4-FFF2-40B4-BE49-F238E27FC236}">
                <a16:creationId xmlns:a16="http://schemas.microsoft.com/office/drawing/2014/main" id="{514F160F-DE46-A84F-2065-977CC1E3680E}"/>
              </a:ext>
            </a:extLst>
          </p:cNvPr>
          <p:cNvSpPr txBox="1"/>
          <p:nvPr/>
        </p:nvSpPr>
        <p:spPr>
          <a:xfrm>
            <a:off x="4969035" y="3518156"/>
            <a:ext cx="33725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262626"/>
                </a:solidFill>
                <a:latin typeface="helvetica"/>
                <a:cs typeface="helvetica"/>
              </a:rPr>
              <a:t>with</a:t>
            </a:r>
            <a:endParaRPr lang="en-US" sz="2000" dirty="0">
              <a:latin typeface="helveti"/>
            </a:endParaRPr>
          </a:p>
        </p:txBody>
      </p:sp>
      <p:pic>
        <p:nvPicPr>
          <p:cNvPr id="12" name="Picture 11" descr="A group of black symbols&#10;&#10;AI-generated content may be incorrect.">
            <a:extLst>
              <a:ext uri="{FF2B5EF4-FFF2-40B4-BE49-F238E27FC236}">
                <a16:creationId xmlns:a16="http://schemas.microsoft.com/office/drawing/2014/main" id="{2883A14C-1ABB-01F9-6C54-E5B8EE1DB010}"/>
              </a:ext>
            </a:extLst>
          </p:cNvPr>
          <p:cNvPicPr>
            <a:picLocks noChangeAspect="1"/>
          </p:cNvPicPr>
          <p:nvPr/>
        </p:nvPicPr>
        <p:blipFill>
          <a:blip r:embed="rId4"/>
          <a:stretch>
            <a:fillRect/>
          </a:stretch>
        </p:blipFill>
        <p:spPr>
          <a:xfrm>
            <a:off x="5941580" y="3462482"/>
            <a:ext cx="1584614" cy="487218"/>
          </a:xfrm>
          <a:prstGeom prst="rect">
            <a:avLst/>
          </a:prstGeom>
        </p:spPr>
      </p:pic>
      <p:sp>
        <p:nvSpPr>
          <p:cNvPr id="13" name="TextBox 12">
            <a:extLst>
              <a:ext uri="{FF2B5EF4-FFF2-40B4-BE49-F238E27FC236}">
                <a16:creationId xmlns:a16="http://schemas.microsoft.com/office/drawing/2014/main" id="{C2D3E651-C9CD-2545-A485-07F1C0374161}"/>
              </a:ext>
            </a:extLst>
          </p:cNvPr>
          <p:cNvSpPr txBox="1"/>
          <p:nvPr/>
        </p:nvSpPr>
        <p:spPr>
          <a:xfrm>
            <a:off x="1082066" y="4177531"/>
            <a:ext cx="1032279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cannot be treated numerically in real numbers because   is unknown</a:t>
            </a:r>
          </a:p>
        </p:txBody>
      </p:sp>
      <p:pic>
        <p:nvPicPr>
          <p:cNvPr id="14" name="Picture 13">
            <a:extLst>
              <a:ext uri="{FF2B5EF4-FFF2-40B4-BE49-F238E27FC236}">
                <a16:creationId xmlns:a16="http://schemas.microsoft.com/office/drawing/2014/main" id="{5E893C7C-60A2-3C8A-8D78-DF495B830A27}"/>
              </a:ext>
            </a:extLst>
          </p:cNvPr>
          <p:cNvPicPr>
            <a:picLocks noChangeAspect="1"/>
          </p:cNvPicPr>
          <p:nvPr/>
        </p:nvPicPr>
        <p:blipFill>
          <a:blip r:embed="rId5"/>
          <a:stretch>
            <a:fillRect/>
          </a:stretch>
        </p:blipFill>
        <p:spPr>
          <a:xfrm>
            <a:off x="7683501" y="4216400"/>
            <a:ext cx="277091" cy="312882"/>
          </a:xfrm>
          <a:prstGeom prst="rect">
            <a:avLst/>
          </a:prstGeom>
        </p:spPr>
      </p:pic>
    </p:spTree>
    <p:extLst>
      <p:ext uri="{BB962C8B-B14F-4D97-AF65-F5344CB8AC3E}">
        <p14:creationId xmlns:p14="http://schemas.microsoft.com/office/powerpoint/2010/main" val="66295768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F79B-7020-06BD-77F1-B4EDCCE290E8}"/>
              </a:ext>
            </a:extLst>
          </p:cNvPr>
          <p:cNvSpPr>
            <a:spLocks noGrp="1"/>
          </p:cNvSpPr>
          <p:nvPr>
            <p:ph type="title"/>
          </p:nvPr>
        </p:nvSpPr>
        <p:spPr/>
        <p:txBody>
          <a:bodyPr/>
          <a:lstStyle/>
          <a:p>
            <a:r>
              <a:rPr lang="en-US" b="0"/>
              <a:t>Overview of Our Solution</a:t>
            </a:r>
            <a:br>
              <a:rPr lang="en-US" b="0"/>
            </a:br>
            <a:r>
              <a:rPr lang="en-US" sz="2000" b="0"/>
              <a:t> (Using Taylor Series &amp; Interval Arithmetic)</a:t>
            </a:r>
          </a:p>
        </p:txBody>
      </p:sp>
      <p:sp>
        <p:nvSpPr>
          <p:cNvPr id="3" name="Content Placeholder 2">
            <a:extLst>
              <a:ext uri="{FF2B5EF4-FFF2-40B4-BE49-F238E27FC236}">
                <a16:creationId xmlns:a16="http://schemas.microsoft.com/office/drawing/2014/main" id="{8CE6306C-6C65-4C71-40CD-518BDE220FBC}"/>
              </a:ext>
            </a:extLst>
          </p:cNvPr>
          <p:cNvSpPr>
            <a:spLocks noGrp="1"/>
          </p:cNvSpPr>
          <p:nvPr>
            <p:ph sz="half" idx="1"/>
          </p:nvPr>
        </p:nvSpPr>
        <p:spPr>
          <a:xfrm>
            <a:off x="612648" y="1967514"/>
            <a:ext cx="10731061" cy="4209449"/>
          </a:xfrm>
        </p:spPr>
        <p:txBody>
          <a:bodyPr vert="horz" lIns="91440" tIns="45720" rIns="91440" bIns="45720" rtlCol="0" anchor="t">
            <a:normAutofit/>
          </a:bodyPr>
          <a:lstStyle/>
          <a:p>
            <a:pPr marL="342900" indent="-342900"/>
            <a:r>
              <a:rPr lang="en-US">
                <a:solidFill>
                  <a:srgbClr val="262626"/>
                </a:solidFill>
                <a:latin typeface="helvetica"/>
                <a:cs typeface="helvetica"/>
              </a:rPr>
              <a:t>The Taylor series expansion is used to approximate the solution to the nonlinear boundary value ODE, providing a systematic way to construct accurate power series representations of the solution over intervals</a:t>
            </a:r>
          </a:p>
          <a:p>
            <a:pPr marL="342900" indent="-342900"/>
            <a:r>
              <a:rPr lang="en-US">
                <a:solidFill>
                  <a:srgbClr val="262626"/>
                </a:solidFill>
                <a:latin typeface="helvetica"/>
                <a:cs typeface="helvetica"/>
              </a:rPr>
              <a:t>The series is substituted into our differential equation to obtain simultaneous equations by coefficient matching</a:t>
            </a:r>
          </a:p>
          <a:p>
            <a:pPr marL="342900" indent="-342900"/>
            <a:r>
              <a:rPr lang="en-US">
                <a:solidFill>
                  <a:srgbClr val="262626"/>
                </a:solidFill>
                <a:latin typeface="helvetica"/>
                <a:cs typeface="helvetica"/>
              </a:rPr>
              <a:t>Interval Newton Method to be used for finding rigorous bounds of the coefficients of the Power series, and the curve represented as an Interval valued function to ensure the solution is enclosed </a:t>
            </a:r>
          </a:p>
          <a:p>
            <a:pPr marL="342900" indent="-342900"/>
            <a:r>
              <a:rPr lang="en-US">
                <a:solidFill>
                  <a:srgbClr val="262626"/>
                </a:solidFill>
                <a:latin typeface="helvetica"/>
                <a:cs typeface="helvetica"/>
              </a:rPr>
              <a:t>By applying interval arithmetic within the boundary value ODE framework, the solution aims to precisely capture uncertainties and verify solution correctness</a:t>
            </a:r>
            <a:endParaRPr lang="en-US"/>
          </a:p>
          <a:p>
            <a:pPr marL="342900" indent="-342900"/>
            <a:endParaRPr lang="en-US">
              <a:solidFill>
                <a:srgbClr val="262626"/>
              </a:solidFill>
              <a:latin typeface="Neue Haas Grotesk Text Pro"/>
              <a:cs typeface="helvetica"/>
            </a:endParaRPr>
          </a:p>
        </p:txBody>
      </p:sp>
      <p:sp>
        <p:nvSpPr>
          <p:cNvPr id="5" name="Date Placeholder 4">
            <a:extLst>
              <a:ext uri="{FF2B5EF4-FFF2-40B4-BE49-F238E27FC236}">
                <a16:creationId xmlns:a16="http://schemas.microsoft.com/office/drawing/2014/main" id="{6932473D-B65E-6ACC-5BC9-6DE896A96028}"/>
              </a:ext>
            </a:extLst>
          </p:cNvPr>
          <p:cNvSpPr>
            <a:spLocks noGrp="1"/>
          </p:cNvSpPr>
          <p:nvPr>
            <p:ph type="dt" sz="half" idx="10"/>
          </p:nvPr>
        </p:nvSpPr>
        <p:spPr/>
        <p:txBody>
          <a:bodyPr/>
          <a:lstStyle/>
          <a:p>
            <a:fld id="{5E56E045-50A7-4585-BDB8-6803621576C3}" type="datetime1">
              <a:t>11/7/2025</a:t>
            </a:fld>
            <a:endParaRPr lang="en-US"/>
          </a:p>
        </p:txBody>
      </p:sp>
      <p:sp>
        <p:nvSpPr>
          <p:cNvPr id="6" name="Footer Placeholder 5">
            <a:extLst>
              <a:ext uri="{FF2B5EF4-FFF2-40B4-BE49-F238E27FC236}">
                <a16:creationId xmlns:a16="http://schemas.microsoft.com/office/drawing/2014/main" id="{AF701292-D909-FBEA-9734-199736E33E6E}"/>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D832BBE-4054-87B1-9C20-95C879C29FD7}"/>
              </a:ext>
            </a:extLst>
          </p:cNvPr>
          <p:cNvSpPr>
            <a:spLocks noGrp="1"/>
          </p:cNvSpPr>
          <p:nvPr>
            <p:ph type="sldNum" sz="quarter" idx="12"/>
          </p:nvPr>
        </p:nvSpPr>
        <p:spPr/>
        <p:txBody>
          <a:bodyPr/>
          <a:lstStyle/>
          <a:p>
            <a:fld id="{CC057153-B650-4DEB-B370-79DDCFDCE934}" type="slidenum">
              <a:rPr lang="en-US" dirty="0"/>
              <a:t>8</a:t>
            </a:fld>
            <a:endParaRPr lang="en-US"/>
          </a:p>
        </p:txBody>
      </p:sp>
      <p:pic>
        <p:nvPicPr>
          <p:cNvPr id="9" name="Picture 8" descr="A black text on a white background&#10;&#10;AI-generated content may be incorrect.">
            <a:extLst>
              <a:ext uri="{FF2B5EF4-FFF2-40B4-BE49-F238E27FC236}">
                <a16:creationId xmlns:a16="http://schemas.microsoft.com/office/drawing/2014/main" id="{F16D3299-C0D1-4172-BEB8-9E04F9F3C878}"/>
              </a:ext>
            </a:extLst>
          </p:cNvPr>
          <p:cNvPicPr>
            <a:picLocks noChangeAspect="1"/>
          </p:cNvPicPr>
          <p:nvPr/>
        </p:nvPicPr>
        <p:blipFill>
          <a:blip r:embed="rId3"/>
          <a:srcRect l="4377" r="168" b="1333"/>
          <a:stretch>
            <a:fillRect/>
          </a:stretch>
        </p:blipFill>
        <p:spPr>
          <a:xfrm>
            <a:off x="867255" y="1397627"/>
            <a:ext cx="4359407" cy="566351"/>
          </a:xfrm>
          <a:prstGeom prst="rect">
            <a:avLst/>
          </a:prstGeom>
        </p:spPr>
      </p:pic>
    </p:spTree>
    <p:extLst>
      <p:ext uri="{BB962C8B-B14F-4D97-AF65-F5344CB8AC3E}">
        <p14:creationId xmlns:p14="http://schemas.microsoft.com/office/powerpoint/2010/main" val="343419814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D07B-1C64-5C8D-0348-0C1A3F724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4A4ED-F0C0-AA32-93A5-A7A65AD51988}"/>
              </a:ext>
            </a:extLst>
          </p:cNvPr>
          <p:cNvSpPr>
            <a:spLocks noGrp="1"/>
          </p:cNvSpPr>
          <p:nvPr>
            <p:ph type="title"/>
          </p:nvPr>
        </p:nvSpPr>
        <p:spPr/>
        <p:txBody>
          <a:bodyPr/>
          <a:lstStyle/>
          <a:p>
            <a:r>
              <a:rPr lang="en-US" b="0"/>
              <a:t>Taylor Series &amp; Interval Arithmetic Solution</a:t>
            </a:r>
            <a:br>
              <a:rPr lang="en-US" b="0"/>
            </a:br>
            <a:r>
              <a:rPr lang="en-US" sz="2000" b="0"/>
              <a:t> Solving for Initial case</a:t>
            </a:r>
          </a:p>
        </p:txBody>
      </p:sp>
      <p:sp>
        <p:nvSpPr>
          <p:cNvPr id="4" name="Date Placeholder 3">
            <a:extLst>
              <a:ext uri="{FF2B5EF4-FFF2-40B4-BE49-F238E27FC236}">
                <a16:creationId xmlns:a16="http://schemas.microsoft.com/office/drawing/2014/main" id="{34AA98FC-D48A-21B3-B497-DE4BAA0A9C5D}"/>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529C44A9-2A86-0602-B63E-92B64CC9096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549B4C2-CFB4-57F3-E47B-745F0552B474}"/>
              </a:ext>
            </a:extLst>
          </p:cNvPr>
          <p:cNvSpPr>
            <a:spLocks noGrp="1"/>
          </p:cNvSpPr>
          <p:nvPr>
            <p:ph type="sldNum" sz="quarter" idx="12"/>
          </p:nvPr>
        </p:nvSpPr>
        <p:spPr/>
        <p:txBody>
          <a:bodyPr/>
          <a:lstStyle/>
          <a:p>
            <a:fld id="{CC057153-B650-4DEB-B370-79DDCFDCE934}" type="slidenum">
              <a:rPr lang="en-US" dirty="0"/>
              <a:t>9</a:t>
            </a:fld>
            <a:endParaRPr lang="en-US"/>
          </a:p>
        </p:txBody>
      </p:sp>
      <p:sp>
        <p:nvSpPr>
          <p:cNvPr id="12" name="Content Placeholder 11">
            <a:extLst>
              <a:ext uri="{FF2B5EF4-FFF2-40B4-BE49-F238E27FC236}">
                <a16:creationId xmlns:a16="http://schemas.microsoft.com/office/drawing/2014/main" id="{8F126AD3-D61D-8125-9F88-2D088408AF4E}"/>
              </a:ext>
            </a:extLst>
          </p:cNvPr>
          <p:cNvSpPr>
            <a:spLocks noGrp="1"/>
          </p:cNvSpPr>
          <p:nvPr>
            <p:ph idx="1"/>
          </p:nvPr>
        </p:nvSpPr>
        <p:spPr/>
        <p:txBody>
          <a:bodyPr vert="horz" lIns="91440" tIns="45720" rIns="91440" bIns="45720" rtlCol="0" anchor="t">
            <a:normAutofit/>
          </a:bodyPr>
          <a:lstStyle/>
          <a:p>
            <a:r>
              <a:rPr lang="en-US"/>
              <a:t>The Differential Equation:</a:t>
            </a:r>
          </a:p>
          <a:p>
            <a:r>
              <a:rPr lang="en-US"/>
              <a:t>The Conditions:              </a:t>
            </a:r>
          </a:p>
        </p:txBody>
      </p:sp>
      <p:pic>
        <p:nvPicPr>
          <p:cNvPr id="7" name="Picture 6" descr="A black text on a white background&#10;&#10;AI-generated content may be incorrect.">
            <a:extLst>
              <a:ext uri="{FF2B5EF4-FFF2-40B4-BE49-F238E27FC236}">
                <a16:creationId xmlns:a16="http://schemas.microsoft.com/office/drawing/2014/main" id="{2AE2C365-F900-EC3F-89BA-4A90C1DF4E34}"/>
              </a:ext>
            </a:extLst>
          </p:cNvPr>
          <p:cNvPicPr>
            <a:picLocks noChangeAspect="1"/>
          </p:cNvPicPr>
          <p:nvPr/>
        </p:nvPicPr>
        <p:blipFill>
          <a:blip r:embed="rId3"/>
          <a:stretch>
            <a:fillRect/>
          </a:stretch>
        </p:blipFill>
        <p:spPr>
          <a:xfrm>
            <a:off x="4161559" y="1667165"/>
            <a:ext cx="4007428" cy="596900"/>
          </a:xfrm>
          <a:prstGeom prst="rect">
            <a:avLst/>
          </a:prstGeom>
        </p:spPr>
      </p:pic>
      <p:pic>
        <p:nvPicPr>
          <p:cNvPr id="8" name="Picture 7" descr="A black text with a white background&#10;&#10;AI-generated content may be incorrect.">
            <a:extLst>
              <a:ext uri="{FF2B5EF4-FFF2-40B4-BE49-F238E27FC236}">
                <a16:creationId xmlns:a16="http://schemas.microsoft.com/office/drawing/2014/main" id="{8240E2DE-CA67-0F55-16DA-EB76B2CA6F2F}"/>
              </a:ext>
            </a:extLst>
          </p:cNvPr>
          <p:cNvPicPr>
            <a:picLocks noChangeAspect="1"/>
          </p:cNvPicPr>
          <p:nvPr/>
        </p:nvPicPr>
        <p:blipFill>
          <a:blip r:embed="rId4"/>
          <a:stretch>
            <a:fillRect/>
          </a:stretch>
        </p:blipFill>
        <p:spPr>
          <a:xfrm>
            <a:off x="3813105" y="2267756"/>
            <a:ext cx="1143002" cy="453160"/>
          </a:xfrm>
          <a:prstGeom prst="rect">
            <a:avLst/>
          </a:prstGeom>
        </p:spPr>
      </p:pic>
      <p:pic>
        <p:nvPicPr>
          <p:cNvPr id="9" name="Picture 8" descr="A black and white image of a clock&#10;&#10;AI-generated content may be incorrect.">
            <a:extLst>
              <a:ext uri="{FF2B5EF4-FFF2-40B4-BE49-F238E27FC236}">
                <a16:creationId xmlns:a16="http://schemas.microsoft.com/office/drawing/2014/main" id="{3501BD26-7826-9103-C3F4-362758FBB29A}"/>
              </a:ext>
            </a:extLst>
          </p:cNvPr>
          <p:cNvPicPr>
            <a:picLocks noChangeAspect="1"/>
          </p:cNvPicPr>
          <p:nvPr/>
        </p:nvPicPr>
        <p:blipFill>
          <a:blip r:embed="rId5"/>
          <a:stretch>
            <a:fillRect/>
          </a:stretch>
        </p:blipFill>
        <p:spPr>
          <a:xfrm>
            <a:off x="5155534" y="2156878"/>
            <a:ext cx="4139623" cy="675987"/>
          </a:xfrm>
          <a:prstGeom prst="rect">
            <a:avLst/>
          </a:prstGeom>
        </p:spPr>
      </p:pic>
      <p:sp>
        <p:nvSpPr>
          <p:cNvPr id="11" name="TextBox 10">
            <a:extLst>
              <a:ext uri="{FF2B5EF4-FFF2-40B4-BE49-F238E27FC236}">
                <a16:creationId xmlns:a16="http://schemas.microsoft.com/office/drawing/2014/main" id="{4E3EFEF4-7AFF-0F9B-6EF0-0615A52DA32E}"/>
              </a:ext>
            </a:extLst>
          </p:cNvPr>
          <p:cNvSpPr txBox="1"/>
          <p:nvPr/>
        </p:nvSpPr>
        <p:spPr>
          <a:xfrm>
            <a:off x="611907" y="3010299"/>
            <a:ext cx="233329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t>Taylor Series :</a:t>
            </a:r>
            <a:endParaRPr lang="en-US"/>
          </a:p>
        </p:txBody>
      </p:sp>
      <p:pic>
        <p:nvPicPr>
          <p:cNvPr id="13" name="Picture 12" descr="A black text with a plus and a number&#10;&#10;AI-generated content may be incorrect.">
            <a:extLst>
              <a:ext uri="{FF2B5EF4-FFF2-40B4-BE49-F238E27FC236}">
                <a16:creationId xmlns:a16="http://schemas.microsoft.com/office/drawing/2014/main" id="{CFA06D7A-ED09-281A-3761-8E9F8DB0F50F}"/>
              </a:ext>
            </a:extLst>
          </p:cNvPr>
          <p:cNvPicPr>
            <a:picLocks noChangeAspect="1"/>
          </p:cNvPicPr>
          <p:nvPr/>
        </p:nvPicPr>
        <p:blipFill>
          <a:blip r:embed="rId6"/>
          <a:stretch>
            <a:fillRect/>
          </a:stretch>
        </p:blipFill>
        <p:spPr>
          <a:xfrm>
            <a:off x="4347024" y="3636439"/>
            <a:ext cx="3557155" cy="609600"/>
          </a:xfrm>
          <a:prstGeom prst="rect">
            <a:avLst/>
          </a:prstGeom>
        </p:spPr>
      </p:pic>
      <p:pic>
        <p:nvPicPr>
          <p:cNvPr id="14" name="Picture 13" descr="A black numbers with a plus and six&#10;&#10;AI-generated content may be incorrect.">
            <a:extLst>
              <a:ext uri="{FF2B5EF4-FFF2-40B4-BE49-F238E27FC236}">
                <a16:creationId xmlns:a16="http://schemas.microsoft.com/office/drawing/2014/main" id="{ED3BF732-7BDC-B116-20BF-D45663494627}"/>
              </a:ext>
            </a:extLst>
          </p:cNvPr>
          <p:cNvPicPr>
            <a:picLocks noChangeAspect="1"/>
          </p:cNvPicPr>
          <p:nvPr/>
        </p:nvPicPr>
        <p:blipFill>
          <a:blip r:embed="rId7"/>
          <a:stretch>
            <a:fillRect/>
          </a:stretch>
        </p:blipFill>
        <p:spPr>
          <a:xfrm>
            <a:off x="4820516" y="4424995"/>
            <a:ext cx="2545196" cy="521855"/>
          </a:xfrm>
          <a:prstGeom prst="rect">
            <a:avLst/>
          </a:prstGeom>
        </p:spPr>
      </p:pic>
      <p:pic>
        <p:nvPicPr>
          <p:cNvPr id="15" name="Picture 14" descr="A math symbols with a plus and x&#10;&#10;AI-generated content may be incorrect.">
            <a:extLst>
              <a:ext uri="{FF2B5EF4-FFF2-40B4-BE49-F238E27FC236}">
                <a16:creationId xmlns:a16="http://schemas.microsoft.com/office/drawing/2014/main" id="{1C6BCC37-E176-3D04-8A25-2BD6C2BBB31C}"/>
              </a:ext>
            </a:extLst>
          </p:cNvPr>
          <p:cNvPicPr>
            <a:picLocks noChangeAspect="1"/>
          </p:cNvPicPr>
          <p:nvPr/>
        </p:nvPicPr>
        <p:blipFill>
          <a:blip r:embed="rId8"/>
          <a:stretch>
            <a:fillRect/>
          </a:stretch>
        </p:blipFill>
        <p:spPr>
          <a:xfrm>
            <a:off x="4162495" y="2943324"/>
            <a:ext cx="3924300" cy="596324"/>
          </a:xfrm>
          <a:prstGeom prst="rect">
            <a:avLst/>
          </a:prstGeom>
        </p:spPr>
      </p:pic>
      <p:pic>
        <p:nvPicPr>
          <p:cNvPr id="17" name="Picture 16" descr="A black text with a plus and a cross&#10;&#10;AI-generated content may be incorrect.">
            <a:extLst>
              <a:ext uri="{FF2B5EF4-FFF2-40B4-BE49-F238E27FC236}">
                <a16:creationId xmlns:a16="http://schemas.microsoft.com/office/drawing/2014/main" id="{D38D4DF9-1B8C-B1CF-ABB3-23BF2A2A69CA}"/>
              </a:ext>
            </a:extLst>
          </p:cNvPr>
          <p:cNvPicPr>
            <a:picLocks noChangeAspect="1"/>
          </p:cNvPicPr>
          <p:nvPr/>
        </p:nvPicPr>
        <p:blipFill>
          <a:blip r:embed="rId9"/>
          <a:stretch>
            <a:fillRect/>
          </a:stretch>
        </p:blipFill>
        <p:spPr>
          <a:xfrm>
            <a:off x="326736" y="5526520"/>
            <a:ext cx="11734800" cy="781050"/>
          </a:xfrm>
          <a:prstGeom prst="rect">
            <a:avLst/>
          </a:prstGeom>
        </p:spPr>
      </p:pic>
      <p:sp>
        <p:nvSpPr>
          <p:cNvPr id="18" name="TextBox 17">
            <a:extLst>
              <a:ext uri="{FF2B5EF4-FFF2-40B4-BE49-F238E27FC236}">
                <a16:creationId xmlns:a16="http://schemas.microsoft.com/office/drawing/2014/main" id="{0C1A7788-2F91-AAA5-2CCF-CD7D3C65C3B1}"/>
              </a:ext>
            </a:extLst>
          </p:cNvPr>
          <p:cNvSpPr txBox="1"/>
          <p:nvPr/>
        </p:nvSpPr>
        <p:spPr>
          <a:xfrm>
            <a:off x="612465" y="5120872"/>
            <a:ext cx="51529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t>Expression obtained after substitution</a:t>
            </a:r>
            <a:endParaRPr lang="en-US"/>
          </a:p>
        </p:txBody>
      </p:sp>
    </p:spTree>
    <p:extLst>
      <p:ext uri="{BB962C8B-B14F-4D97-AF65-F5344CB8AC3E}">
        <p14:creationId xmlns:p14="http://schemas.microsoft.com/office/powerpoint/2010/main" val="38603642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418B-FA9F-D07E-77AE-4F87A4038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23463-C319-16BC-D84C-66FC0A2EDA86}"/>
              </a:ext>
            </a:extLst>
          </p:cNvPr>
          <p:cNvSpPr>
            <a:spLocks noGrp="1"/>
          </p:cNvSpPr>
          <p:nvPr>
            <p:ph type="title"/>
          </p:nvPr>
        </p:nvSpPr>
        <p:spPr/>
        <p:txBody>
          <a:bodyPr/>
          <a:lstStyle/>
          <a:p>
            <a:r>
              <a:rPr lang="en-US" b="0"/>
              <a:t>Taylor Series &amp; Interval Arithmetic Solution</a:t>
            </a:r>
          </a:p>
        </p:txBody>
      </p:sp>
      <p:sp>
        <p:nvSpPr>
          <p:cNvPr id="4" name="Date Placeholder 3">
            <a:extLst>
              <a:ext uri="{FF2B5EF4-FFF2-40B4-BE49-F238E27FC236}">
                <a16:creationId xmlns:a16="http://schemas.microsoft.com/office/drawing/2014/main" id="{25BCBF10-4434-2548-BB34-DEA2D039DDBE}"/>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7D869E62-BCDC-0E52-775A-FC55F4EF72A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E80DC84-0C9D-FD9D-B348-3719AC5DBB04}"/>
              </a:ext>
            </a:extLst>
          </p:cNvPr>
          <p:cNvSpPr>
            <a:spLocks noGrp="1"/>
          </p:cNvSpPr>
          <p:nvPr>
            <p:ph type="sldNum" sz="quarter" idx="12"/>
          </p:nvPr>
        </p:nvSpPr>
        <p:spPr/>
        <p:txBody>
          <a:bodyPr/>
          <a:lstStyle/>
          <a:p>
            <a:fld id="{CC057153-B650-4DEB-B370-79DDCFDCE934}" type="slidenum">
              <a:rPr lang="en-US" dirty="0"/>
              <a:t>10</a:t>
            </a:fld>
            <a:endParaRPr lang="en-US"/>
          </a:p>
        </p:txBody>
      </p:sp>
      <p:sp>
        <p:nvSpPr>
          <p:cNvPr id="18" name="TextBox 17">
            <a:extLst>
              <a:ext uri="{FF2B5EF4-FFF2-40B4-BE49-F238E27FC236}">
                <a16:creationId xmlns:a16="http://schemas.microsoft.com/office/drawing/2014/main" id="{9690892D-79CD-60F8-55C1-846E1447ADF6}"/>
              </a:ext>
            </a:extLst>
          </p:cNvPr>
          <p:cNvSpPr txBox="1"/>
          <p:nvPr/>
        </p:nvSpPr>
        <p:spPr>
          <a:xfrm>
            <a:off x="393766" y="1276184"/>
            <a:ext cx="114538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  Equations obtained on matching coefficients:</a:t>
            </a:r>
          </a:p>
        </p:txBody>
      </p:sp>
      <p:pic>
        <p:nvPicPr>
          <p:cNvPr id="19" name="Picture 18" descr="A math equations on a white background&#10;&#10;AI-generated content may be incorrect.">
            <a:extLst>
              <a:ext uri="{FF2B5EF4-FFF2-40B4-BE49-F238E27FC236}">
                <a16:creationId xmlns:a16="http://schemas.microsoft.com/office/drawing/2014/main" id="{2DB2E4E8-0C5B-C556-02D0-EAA685F56D79}"/>
              </a:ext>
            </a:extLst>
          </p:cNvPr>
          <p:cNvPicPr>
            <a:picLocks noChangeAspect="1"/>
          </p:cNvPicPr>
          <p:nvPr/>
        </p:nvPicPr>
        <p:blipFill>
          <a:blip r:embed="rId2"/>
          <a:stretch>
            <a:fillRect/>
          </a:stretch>
        </p:blipFill>
        <p:spPr>
          <a:xfrm>
            <a:off x="4200855" y="1680277"/>
            <a:ext cx="3473450" cy="2934855"/>
          </a:xfrm>
          <a:prstGeom prst="rect">
            <a:avLst/>
          </a:prstGeom>
        </p:spPr>
      </p:pic>
      <p:sp>
        <p:nvSpPr>
          <p:cNvPr id="20" name="TextBox 19">
            <a:extLst>
              <a:ext uri="{FF2B5EF4-FFF2-40B4-BE49-F238E27FC236}">
                <a16:creationId xmlns:a16="http://schemas.microsoft.com/office/drawing/2014/main" id="{9B6B6BE0-99D1-36CC-E10F-45D1AAC29AC9}"/>
              </a:ext>
            </a:extLst>
          </p:cNvPr>
          <p:cNvSpPr txBox="1"/>
          <p:nvPr/>
        </p:nvSpPr>
        <p:spPr>
          <a:xfrm>
            <a:off x="378691" y="4887310"/>
            <a:ext cx="97220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Particularly for n = 3, we have 4 variables. We already have 2 conditions from the boundary values, so we take the first two equations of the above 4 equations obtained.</a:t>
            </a:r>
          </a:p>
        </p:txBody>
      </p:sp>
    </p:spTree>
    <p:extLst>
      <p:ext uri="{BB962C8B-B14F-4D97-AF65-F5344CB8AC3E}">
        <p14:creationId xmlns:p14="http://schemas.microsoft.com/office/powerpoint/2010/main" val="1868861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920C-178E-E7BD-0439-B6BE5CC35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9F66D-1860-1B39-A490-3B89FCA3D64F}"/>
              </a:ext>
            </a:extLst>
          </p:cNvPr>
          <p:cNvSpPr>
            <a:spLocks noGrp="1"/>
          </p:cNvSpPr>
          <p:nvPr>
            <p:ph type="title"/>
          </p:nvPr>
        </p:nvSpPr>
        <p:spPr/>
        <p:txBody>
          <a:bodyPr/>
          <a:lstStyle/>
          <a:p>
            <a:r>
              <a:rPr lang="en-US" b="0"/>
              <a:t>Problem with this case</a:t>
            </a:r>
          </a:p>
        </p:txBody>
      </p:sp>
      <p:sp>
        <p:nvSpPr>
          <p:cNvPr id="4" name="Date Placeholder 3">
            <a:extLst>
              <a:ext uri="{FF2B5EF4-FFF2-40B4-BE49-F238E27FC236}">
                <a16:creationId xmlns:a16="http://schemas.microsoft.com/office/drawing/2014/main" id="{7BDAEAFC-A242-0D77-90A2-95372103C485}"/>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C5E0B9B5-A38C-2557-3988-AC8B6711D8E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6BF46E3-EE11-607E-DB98-7EB0E1CD5B8E}"/>
              </a:ext>
            </a:extLst>
          </p:cNvPr>
          <p:cNvSpPr>
            <a:spLocks noGrp="1"/>
          </p:cNvSpPr>
          <p:nvPr>
            <p:ph type="sldNum" sz="quarter" idx="12"/>
          </p:nvPr>
        </p:nvSpPr>
        <p:spPr/>
        <p:txBody>
          <a:bodyPr/>
          <a:lstStyle/>
          <a:p>
            <a:fld id="{CC057153-B650-4DEB-B370-79DDCFDCE934}" type="slidenum">
              <a:rPr lang="en-US" dirty="0"/>
              <a:t>11</a:t>
            </a:fld>
            <a:endParaRPr lang="en-US"/>
          </a:p>
        </p:txBody>
      </p:sp>
      <p:sp>
        <p:nvSpPr>
          <p:cNvPr id="3" name="TextBox 2">
            <a:extLst>
              <a:ext uri="{FF2B5EF4-FFF2-40B4-BE49-F238E27FC236}">
                <a16:creationId xmlns:a16="http://schemas.microsoft.com/office/drawing/2014/main" id="{3D9C964B-CFB6-349F-6755-0D96C5DF29E2}"/>
              </a:ext>
            </a:extLst>
          </p:cNvPr>
          <p:cNvSpPr txBox="1"/>
          <p:nvPr/>
        </p:nvSpPr>
        <p:spPr>
          <a:xfrm>
            <a:off x="1198178" y="1450427"/>
            <a:ext cx="10494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 the 4 equations that we solve are:</a:t>
            </a:r>
          </a:p>
          <a:p>
            <a:endParaRPr lang="en-US"/>
          </a:p>
        </p:txBody>
      </p:sp>
      <p:pic>
        <p:nvPicPr>
          <p:cNvPr id="7" name="Picture 6">
            <a:extLst>
              <a:ext uri="{FF2B5EF4-FFF2-40B4-BE49-F238E27FC236}">
                <a16:creationId xmlns:a16="http://schemas.microsoft.com/office/drawing/2014/main" id="{25904BA0-92AC-BFD3-7ACD-ABF1A0C5F45E}"/>
              </a:ext>
            </a:extLst>
          </p:cNvPr>
          <p:cNvPicPr>
            <a:picLocks noChangeAspect="1"/>
          </p:cNvPicPr>
          <p:nvPr/>
        </p:nvPicPr>
        <p:blipFill>
          <a:blip r:embed="rId3"/>
          <a:stretch>
            <a:fillRect/>
          </a:stretch>
        </p:blipFill>
        <p:spPr>
          <a:xfrm>
            <a:off x="5411643" y="1450400"/>
            <a:ext cx="1016577" cy="516655"/>
          </a:xfrm>
          <a:prstGeom prst="rect">
            <a:avLst/>
          </a:prstGeom>
        </p:spPr>
      </p:pic>
      <p:pic>
        <p:nvPicPr>
          <p:cNvPr id="8" name="Picture 7" descr="A black and white math equation&#10;&#10;AI-generated content may be incorrect.">
            <a:extLst>
              <a:ext uri="{FF2B5EF4-FFF2-40B4-BE49-F238E27FC236}">
                <a16:creationId xmlns:a16="http://schemas.microsoft.com/office/drawing/2014/main" id="{06683C62-F868-DA13-316A-970272190017}"/>
              </a:ext>
            </a:extLst>
          </p:cNvPr>
          <p:cNvPicPr>
            <a:picLocks noChangeAspect="1"/>
          </p:cNvPicPr>
          <p:nvPr/>
        </p:nvPicPr>
        <p:blipFill>
          <a:blip r:embed="rId4"/>
          <a:stretch>
            <a:fillRect/>
          </a:stretch>
        </p:blipFill>
        <p:spPr>
          <a:xfrm>
            <a:off x="5161972" y="2061441"/>
            <a:ext cx="1556328" cy="1199573"/>
          </a:xfrm>
          <a:prstGeom prst="rect">
            <a:avLst/>
          </a:prstGeom>
        </p:spPr>
      </p:pic>
      <p:pic>
        <p:nvPicPr>
          <p:cNvPr id="9" name="Picture 8">
            <a:extLst>
              <a:ext uri="{FF2B5EF4-FFF2-40B4-BE49-F238E27FC236}">
                <a16:creationId xmlns:a16="http://schemas.microsoft.com/office/drawing/2014/main" id="{03F117AA-C125-01B2-C76B-BBFA78DC0912}"/>
              </a:ext>
            </a:extLst>
          </p:cNvPr>
          <p:cNvPicPr>
            <a:picLocks noChangeAspect="1"/>
          </p:cNvPicPr>
          <p:nvPr/>
        </p:nvPicPr>
        <p:blipFill>
          <a:blip r:embed="rId5"/>
          <a:stretch>
            <a:fillRect/>
          </a:stretch>
        </p:blipFill>
        <p:spPr>
          <a:xfrm>
            <a:off x="4230831" y="3262746"/>
            <a:ext cx="3418610" cy="759691"/>
          </a:xfrm>
          <a:prstGeom prst="rect">
            <a:avLst/>
          </a:prstGeom>
        </p:spPr>
      </p:pic>
      <p:pic>
        <p:nvPicPr>
          <p:cNvPr id="10" name="Picture 9" descr="A black text on a white background&#10;&#10;AI-generated content may be incorrect.">
            <a:extLst>
              <a:ext uri="{FF2B5EF4-FFF2-40B4-BE49-F238E27FC236}">
                <a16:creationId xmlns:a16="http://schemas.microsoft.com/office/drawing/2014/main" id="{94072FEC-FBDA-6C81-A258-84B0AC49BB77}"/>
              </a:ext>
            </a:extLst>
          </p:cNvPr>
          <p:cNvPicPr>
            <a:picLocks noChangeAspect="1"/>
          </p:cNvPicPr>
          <p:nvPr/>
        </p:nvPicPr>
        <p:blipFill>
          <a:blip r:embed="rId6"/>
          <a:stretch>
            <a:fillRect/>
          </a:stretch>
        </p:blipFill>
        <p:spPr>
          <a:xfrm>
            <a:off x="3982315" y="4024169"/>
            <a:ext cx="3846370" cy="674256"/>
          </a:xfrm>
          <a:prstGeom prst="rect">
            <a:avLst/>
          </a:prstGeom>
        </p:spPr>
      </p:pic>
      <p:sp>
        <p:nvSpPr>
          <p:cNvPr id="11" name="TextBox 10">
            <a:extLst>
              <a:ext uri="{FF2B5EF4-FFF2-40B4-BE49-F238E27FC236}">
                <a16:creationId xmlns:a16="http://schemas.microsoft.com/office/drawing/2014/main" id="{3E8FA949-6A53-0EE6-EA3C-7F1B19E28D7B}"/>
              </a:ext>
            </a:extLst>
          </p:cNvPr>
          <p:cNvSpPr txBox="1"/>
          <p:nvPr/>
        </p:nvSpPr>
        <p:spPr>
          <a:xfrm>
            <a:off x="1129344" y="4875606"/>
            <a:ext cx="36260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When we try to plug in </a:t>
            </a:r>
          </a:p>
        </p:txBody>
      </p:sp>
      <p:pic>
        <p:nvPicPr>
          <p:cNvPr id="13" name="Picture 12" descr="A black and white math symbol&#10;&#10;AI-generated content may be incorrect.">
            <a:extLst>
              <a:ext uri="{FF2B5EF4-FFF2-40B4-BE49-F238E27FC236}">
                <a16:creationId xmlns:a16="http://schemas.microsoft.com/office/drawing/2014/main" id="{31787EFF-6802-B356-AFF5-82E7DF1FD1EC}"/>
              </a:ext>
            </a:extLst>
          </p:cNvPr>
          <p:cNvPicPr>
            <a:picLocks noChangeAspect="1"/>
          </p:cNvPicPr>
          <p:nvPr/>
        </p:nvPicPr>
        <p:blipFill>
          <a:blip r:embed="rId7"/>
          <a:stretch>
            <a:fillRect/>
          </a:stretch>
        </p:blipFill>
        <p:spPr>
          <a:xfrm>
            <a:off x="3984914" y="4878532"/>
            <a:ext cx="764310" cy="362528"/>
          </a:xfrm>
          <a:prstGeom prst="rect">
            <a:avLst/>
          </a:prstGeom>
        </p:spPr>
      </p:pic>
      <p:sp>
        <p:nvSpPr>
          <p:cNvPr id="14" name="TextBox 13">
            <a:extLst>
              <a:ext uri="{FF2B5EF4-FFF2-40B4-BE49-F238E27FC236}">
                <a16:creationId xmlns:a16="http://schemas.microsoft.com/office/drawing/2014/main" id="{0B8EBB59-D583-6F18-3553-A42B3E6C3174}"/>
              </a:ext>
            </a:extLst>
          </p:cNvPr>
          <p:cNvSpPr txBox="1"/>
          <p:nvPr/>
        </p:nvSpPr>
        <p:spPr>
          <a:xfrm>
            <a:off x="5024979" y="4874133"/>
            <a:ext cx="21441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 arrive at </a:t>
            </a:r>
          </a:p>
        </p:txBody>
      </p:sp>
      <p:pic>
        <p:nvPicPr>
          <p:cNvPr id="15" name="Picture 14">
            <a:extLst>
              <a:ext uri="{FF2B5EF4-FFF2-40B4-BE49-F238E27FC236}">
                <a16:creationId xmlns:a16="http://schemas.microsoft.com/office/drawing/2014/main" id="{51029488-7FEB-06BF-A7AD-7FD9B4A083E9}"/>
              </a:ext>
            </a:extLst>
          </p:cNvPr>
          <p:cNvPicPr>
            <a:picLocks noChangeAspect="1"/>
          </p:cNvPicPr>
          <p:nvPr/>
        </p:nvPicPr>
        <p:blipFill>
          <a:blip r:embed="rId8"/>
          <a:stretch>
            <a:fillRect/>
          </a:stretch>
        </p:blipFill>
        <p:spPr>
          <a:xfrm>
            <a:off x="6893214" y="4820227"/>
            <a:ext cx="1228437" cy="479136"/>
          </a:xfrm>
          <a:prstGeom prst="rect">
            <a:avLst/>
          </a:prstGeom>
        </p:spPr>
      </p:pic>
    </p:spTree>
    <p:extLst>
      <p:ext uri="{BB962C8B-B14F-4D97-AF65-F5344CB8AC3E}">
        <p14:creationId xmlns:p14="http://schemas.microsoft.com/office/powerpoint/2010/main" val="3223930854"/>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63DA0-741F-C4F7-B541-5E5BBD97E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6BE19-88B0-6BE7-AD46-9686A06E387E}"/>
              </a:ext>
            </a:extLst>
          </p:cNvPr>
          <p:cNvSpPr>
            <a:spLocks noGrp="1"/>
          </p:cNvSpPr>
          <p:nvPr>
            <p:ph type="title"/>
          </p:nvPr>
        </p:nvSpPr>
        <p:spPr/>
        <p:txBody>
          <a:bodyPr/>
          <a:lstStyle/>
          <a:p>
            <a:r>
              <a:rPr lang="en-US" b="0"/>
              <a:t>Updated Case: Shifted Brachistochrone</a:t>
            </a:r>
          </a:p>
        </p:txBody>
      </p:sp>
      <p:sp>
        <p:nvSpPr>
          <p:cNvPr id="4" name="Date Placeholder 3">
            <a:extLst>
              <a:ext uri="{FF2B5EF4-FFF2-40B4-BE49-F238E27FC236}">
                <a16:creationId xmlns:a16="http://schemas.microsoft.com/office/drawing/2014/main" id="{BC100E9B-AF01-344D-38D3-9B9EAC2B0A9F}"/>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AFDB2408-EAE2-ECBD-4F70-392D860ABAA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2464FE0-3A99-C4E3-954A-0ABAF08A6452}"/>
              </a:ext>
            </a:extLst>
          </p:cNvPr>
          <p:cNvSpPr>
            <a:spLocks noGrp="1"/>
          </p:cNvSpPr>
          <p:nvPr>
            <p:ph type="sldNum" sz="quarter" idx="12"/>
          </p:nvPr>
        </p:nvSpPr>
        <p:spPr/>
        <p:txBody>
          <a:bodyPr/>
          <a:lstStyle/>
          <a:p>
            <a:fld id="{CC057153-B650-4DEB-B370-79DDCFDCE934}" type="slidenum">
              <a:rPr lang="en-US" dirty="0"/>
              <a:t>12</a:t>
            </a:fld>
            <a:endParaRPr lang="en-US"/>
          </a:p>
        </p:txBody>
      </p:sp>
      <p:sp>
        <p:nvSpPr>
          <p:cNvPr id="16" name="TextBox 15">
            <a:extLst>
              <a:ext uri="{FF2B5EF4-FFF2-40B4-BE49-F238E27FC236}">
                <a16:creationId xmlns:a16="http://schemas.microsoft.com/office/drawing/2014/main" id="{CC991853-87B7-9B1E-6C87-C82C1123CE5E}"/>
              </a:ext>
            </a:extLst>
          </p:cNvPr>
          <p:cNvSpPr txBox="1"/>
          <p:nvPr/>
        </p:nvSpPr>
        <p:spPr>
          <a:xfrm>
            <a:off x="378372" y="1208689"/>
            <a:ext cx="11382703" cy="52867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5D9801D7-40BC-8A91-7B89-36292D3DFD08}"/>
              </a:ext>
            </a:extLst>
          </p:cNvPr>
          <p:cNvSpPr txBox="1"/>
          <p:nvPr/>
        </p:nvSpPr>
        <p:spPr>
          <a:xfrm>
            <a:off x="504496" y="1177159"/>
            <a:ext cx="99217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Instead, solve for a shifted Brachistochrone which starts from (-1,1) and passes through (0,0)</a:t>
            </a:r>
          </a:p>
        </p:txBody>
      </p:sp>
      <p:pic>
        <p:nvPicPr>
          <p:cNvPr id="7" name="Picture 6" descr="A graph of a function&#10;&#10;AI-generated content may be incorrect.">
            <a:extLst>
              <a:ext uri="{FF2B5EF4-FFF2-40B4-BE49-F238E27FC236}">
                <a16:creationId xmlns:a16="http://schemas.microsoft.com/office/drawing/2014/main" id="{E741FE4A-731A-18BB-CDA6-0B5E4BC1DD12}"/>
              </a:ext>
            </a:extLst>
          </p:cNvPr>
          <p:cNvPicPr>
            <a:picLocks noChangeAspect="1"/>
          </p:cNvPicPr>
          <p:nvPr/>
        </p:nvPicPr>
        <p:blipFill>
          <a:blip r:embed="rId3"/>
          <a:stretch>
            <a:fillRect/>
          </a:stretch>
        </p:blipFill>
        <p:spPr>
          <a:xfrm>
            <a:off x="2850580" y="1714500"/>
            <a:ext cx="3534607" cy="2447637"/>
          </a:xfrm>
          <a:prstGeom prst="rect">
            <a:avLst/>
          </a:prstGeom>
        </p:spPr>
      </p:pic>
      <p:sp>
        <p:nvSpPr>
          <p:cNvPr id="8" name="TextBox 7">
            <a:extLst>
              <a:ext uri="{FF2B5EF4-FFF2-40B4-BE49-F238E27FC236}">
                <a16:creationId xmlns:a16="http://schemas.microsoft.com/office/drawing/2014/main" id="{B7EE2B6B-E78B-9CC2-6DD5-4AEEC0041C99}"/>
              </a:ext>
            </a:extLst>
          </p:cNvPr>
          <p:cNvSpPr txBox="1"/>
          <p:nvPr/>
        </p:nvSpPr>
        <p:spPr>
          <a:xfrm>
            <a:off x="614855" y="4424855"/>
            <a:ext cx="780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 our conditions now become:</a:t>
            </a:r>
          </a:p>
        </p:txBody>
      </p:sp>
      <p:pic>
        <p:nvPicPr>
          <p:cNvPr id="9" name="Picture 8">
            <a:extLst>
              <a:ext uri="{FF2B5EF4-FFF2-40B4-BE49-F238E27FC236}">
                <a16:creationId xmlns:a16="http://schemas.microsoft.com/office/drawing/2014/main" id="{8A748BEF-D248-6D6C-0DFB-DFCD1BCEBB4E}"/>
              </a:ext>
            </a:extLst>
          </p:cNvPr>
          <p:cNvPicPr>
            <a:picLocks noChangeAspect="1"/>
          </p:cNvPicPr>
          <p:nvPr/>
        </p:nvPicPr>
        <p:blipFill>
          <a:blip r:embed="rId4"/>
          <a:stretch>
            <a:fillRect/>
          </a:stretch>
        </p:blipFill>
        <p:spPr>
          <a:xfrm>
            <a:off x="4469822" y="4516003"/>
            <a:ext cx="1988128" cy="1659084"/>
          </a:xfrm>
          <a:prstGeom prst="rect">
            <a:avLst/>
          </a:prstGeom>
        </p:spPr>
      </p:pic>
    </p:spTree>
    <p:extLst>
      <p:ext uri="{BB962C8B-B14F-4D97-AF65-F5344CB8AC3E}">
        <p14:creationId xmlns:p14="http://schemas.microsoft.com/office/powerpoint/2010/main" val="3948909431"/>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2B563-281F-00C3-5605-4D0C57294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7DB3D-16F3-6208-C740-5FF3300E7AF2}"/>
              </a:ext>
            </a:extLst>
          </p:cNvPr>
          <p:cNvSpPr>
            <a:spLocks noGrp="1"/>
          </p:cNvSpPr>
          <p:nvPr>
            <p:ph type="title"/>
          </p:nvPr>
        </p:nvSpPr>
        <p:spPr/>
        <p:txBody>
          <a:bodyPr/>
          <a:lstStyle/>
          <a:p>
            <a:r>
              <a:rPr lang="en-US" b="0"/>
              <a:t>Solution Method</a:t>
            </a:r>
          </a:p>
        </p:txBody>
      </p:sp>
      <p:sp>
        <p:nvSpPr>
          <p:cNvPr id="4" name="Date Placeholder 3">
            <a:extLst>
              <a:ext uri="{FF2B5EF4-FFF2-40B4-BE49-F238E27FC236}">
                <a16:creationId xmlns:a16="http://schemas.microsoft.com/office/drawing/2014/main" id="{CC9C9E02-488A-BDB4-A154-8318FF349E03}"/>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8B63C49F-2C52-B06D-FD36-318AA48171D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BB0B85-E1F8-2723-AEAA-90DF27FD3CDB}"/>
              </a:ext>
            </a:extLst>
          </p:cNvPr>
          <p:cNvSpPr>
            <a:spLocks noGrp="1"/>
          </p:cNvSpPr>
          <p:nvPr>
            <p:ph type="sldNum" sz="quarter" idx="12"/>
          </p:nvPr>
        </p:nvSpPr>
        <p:spPr/>
        <p:txBody>
          <a:bodyPr/>
          <a:lstStyle/>
          <a:p>
            <a:fld id="{CC057153-B650-4DEB-B370-79DDCFDCE934}" type="slidenum">
              <a:rPr lang="en-US" dirty="0"/>
              <a:t>13</a:t>
            </a:fld>
            <a:endParaRPr lang="en-US"/>
          </a:p>
        </p:txBody>
      </p:sp>
      <p:sp>
        <p:nvSpPr>
          <p:cNvPr id="3" name="TextBox 2">
            <a:extLst>
              <a:ext uri="{FF2B5EF4-FFF2-40B4-BE49-F238E27FC236}">
                <a16:creationId xmlns:a16="http://schemas.microsoft.com/office/drawing/2014/main" id="{68D0B02D-0697-C373-09B7-628266D77548}"/>
              </a:ext>
            </a:extLst>
          </p:cNvPr>
          <p:cNvSpPr txBox="1"/>
          <p:nvPr/>
        </p:nvSpPr>
        <p:spPr>
          <a:xfrm>
            <a:off x="504496" y="1177159"/>
            <a:ext cx="99217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 have 2 equations already </a:t>
            </a:r>
          </a:p>
        </p:txBody>
      </p:sp>
      <p:sp>
        <p:nvSpPr>
          <p:cNvPr id="8" name="TextBox 7">
            <a:extLst>
              <a:ext uri="{FF2B5EF4-FFF2-40B4-BE49-F238E27FC236}">
                <a16:creationId xmlns:a16="http://schemas.microsoft.com/office/drawing/2014/main" id="{18535065-73BF-71B0-C34D-BF854BF80DD3}"/>
              </a:ext>
            </a:extLst>
          </p:cNvPr>
          <p:cNvSpPr txBox="1"/>
          <p:nvPr/>
        </p:nvSpPr>
        <p:spPr>
          <a:xfrm>
            <a:off x="504230" y="4332491"/>
            <a:ext cx="75989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 our conditions now become</a:t>
            </a:r>
          </a:p>
        </p:txBody>
      </p:sp>
      <p:pic>
        <p:nvPicPr>
          <p:cNvPr id="9" name="Picture 8">
            <a:extLst>
              <a:ext uri="{FF2B5EF4-FFF2-40B4-BE49-F238E27FC236}">
                <a16:creationId xmlns:a16="http://schemas.microsoft.com/office/drawing/2014/main" id="{B3D9AFCC-6650-AFC2-09A9-BD5D12B04DEB}"/>
              </a:ext>
            </a:extLst>
          </p:cNvPr>
          <p:cNvPicPr>
            <a:picLocks noChangeAspect="1"/>
          </p:cNvPicPr>
          <p:nvPr/>
        </p:nvPicPr>
        <p:blipFill>
          <a:blip r:embed="rId3"/>
          <a:stretch>
            <a:fillRect/>
          </a:stretch>
        </p:blipFill>
        <p:spPr>
          <a:xfrm>
            <a:off x="4108064" y="4331276"/>
            <a:ext cx="1988128" cy="1659084"/>
          </a:xfrm>
          <a:prstGeom prst="rect">
            <a:avLst/>
          </a:prstGeom>
        </p:spPr>
      </p:pic>
      <p:pic>
        <p:nvPicPr>
          <p:cNvPr id="10" name="Picture 9">
            <a:extLst>
              <a:ext uri="{FF2B5EF4-FFF2-40B4-BE49-F238E27FC236}">
                <a16:creationId xmlns:a16="http://schemas.microsoft.com/office/drawing/2014/main" id="{8C76061B-FC47-BCD2-65DB-5DFFC7E0189B}"/>
              </a:ext>
            </a:extLst>
          </p:cNvPr>
          <p:cNvPicPr>
            <a:picLocks noChangeAspect="1"/>
          </p:cNvPicPr>
          <p:nvPr/>
        </p:nvPicPr>
        <p:blipFill>
          <a:blip r:embed="rId4"/>
          <a:stretch>
            <a:fillRect/>
          </a:stretch>
        </p:blipFill>
        <p:spPr>
          <a:xfrm>
            <a:off x="3901915" y="1300442"/>
            <a:ext cx="1744334" cy="1131858"/>
          </a:xfrm>
          <a:prstGeom prst="rect">
            <a:avLst/>
          </a:prstGeom>
        </p:spPr>
      </p:pic>
      <p:sp>
        <p:nvSpPr>
          <p:cNvPr id="11" name="TextBox 10">
            <a:extLst>
              <a:ext uri="{FF2B5EF4-FFF2-40B4-BE49-F238E27FC236}">
                <a16:creationId xmlns:a16="http://schemas.microsoft.com/office/drawing/2014/main" id="{9DEAF150-FF35-7042-D91E-A213F80A0360}"/>
              </a:ext>
            </a:extLst>
          </p:cNvPr>
          <p:cNvSpPr txBox="1"/>
          <p:nvPr/>
        </p:nvSpPr>
        <p:spPr>
          <a:xfrm>
            <a:off x="7270229" y="1299147"/>
            <a:ext cx="2610786" cy="1361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BD5ECF2D-5863-7CB1-D1DA-CF7FADED076D}"/>
              </a:ext>
            </a:extLst>
          </p:cNvPr>
          <p:cNvSpPr txBox="1"/>
          <p:nvPr/>
        </p:nvSpPr>
        <p:spPr>
          <a:xfrm>
            <a:off x="7382655" y="1411573"/>
            <a:ext cx="2685737" cy="2310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EDBB3CB1-E163-6062-53D5-35582108A5F9}"/>
              </a:ext>
            </a:extLst>
          </p:cNvPr>
          <p:cNvSpPr txBox="1"/>
          <p:nvPr/>
        </p:nvSpPr>
        <p:spPr>
          <a:xfrm>
            <a:off x="506819" y="3060737"/>
            <a:ext cx="68011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 take the first n-1 equations of the equations obtained </a:t>
            </a:r>
          </a:p>
        </p:txBody>
      </p:sp>
    </p:spTree>
    <p:extLst>
      <p:ext uri="{BB962C8B-B14F-4D97-AF65-F5344CB8AC3E}">
        <p14:creationId xmlns:p14="http://schemas.microsoft.com/office/powerpoint/2010/main" val="207398189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E7ECF-3EEE-62A1-C5E1-4B71B69CC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43781-28A8-960B-A561-E49F26593EFB}"/>
              </a:ext>
            </a:extLst>
          </p:cNvPr>
          <p:cNvSpPr>
            <a:spLocks noGrp="1"/>
          </p:cNvSpPr>
          <p:nvPr>
            <p:ph type="title"/>
          </p:nvPr>
        </p:nvSpPr>
        <p:spPr/>
        <p:txBody>
          <a:bodyPr/>
          <a:lstStyle/>
          <a:p>
            <a:r>
              <a:rPr lang="en-US" b="0"/>
              <a:t>Example: Solving for second order </a:t>
            </a:r>
            <a:endParaRPr lang="en-US"/>
          </a:p>
        </p:txBody>
      </p:sp>
      <p:sp>
        <p:nvSpPr>
          <p:cNvPr id="4" name="Date Placeholder 3">
            <a:extLst>
              <a:ext uri="{FF2B5EF4-FFF2-40B4-BE49-F238E27FC236}">
                <a16:creationId xmlns:a16="http://schemas.microsoft.com/office/drawing/2014/main" id="{44E83064-8A71-D91F-E8FE-B2C743708ACC}"/>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7F6EDF7C-5CD5-B924-BEB1-C5DA06F9D3F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9A70196-5EAD-81E4-241B-C0B6E51EA354}"/>
              </a:ext>
            </a:extLst>
          </p:cNvPr>
          <p:cNvSpPr>
            <a:spLocks noGrp="1"/>
          </p:cNvSpPr>
          <p:nvPr>
            <p:ph type="sldNum" sz="quarter" idx="12"/>
          </p:nvPr>
        </p:nvSpPr>
        <p:spPr/>
        <p:txBody>
          <a:bodyPr/>
          <a:lstStyle/>
          <a:p>
            <a:fld id="{CC057153-B650-4DEB-B370-79DDCFDCE934}" type="slidenum">
              <a:rPr lang="en-US" dirty="0"/>
              <a:t>14</a:t>
            </a:fld>
            <a:endParaRPr lang="en-US"/>
          </a:p>
        </p:txBody>
      </p:sp>
      <p:sp>
        <p:nvSpPr>
          <p:cNvPr id="11" name="TextBox 10">
            <a:extLst>
              <a:ext uri="{FF2B5EF4-FFF2-40B4-BE49-F238E27FC236}">
                <a16:creationId xmlns:a16="http://schemas.microsoft.com/office/drawing/2014/main" id="{1D48F367-3213-6C63-B956-CEFFCF996C17}"/>
              </a:ext>
            </a:extLst>
          </p:cNvPr>
          <p:cNvSpPr txBox="1"/>
          <p:nvPr/>
        </p:nvSpPr>
        <p:spPr>
          <a:xfrm>
            <a:off x="388882" y="1324303"/>
            <a:ext cx="115088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polynomial: </a:t>
            </a:r>
          </a:p>
        </p:txBody>
      </p:sp>
      <p:pic>
        <p:nvPicPr>
          <p:cNvPr id="14" name="Picture 13" descr="A math symbols with a plus and a positive symbol&#10;&#10;AI-generated content may be incorrect.">
            <a:extLst>
              <a:ext uri="{FF2B5EF4-FFF2-40B4-BE49-F238E27FC236}">
                <a16:creationId xmlns:a16="http://schemas.microsoft.com/office/drawing/2014/main" id="{B6C021C2-F055-1DDB-F654-7FA003AE83D2}"/>
              </a:ext>
            </a:extLst>
          </p:cNvPr>
          <p:cNvPicPr>
            <a:picLocks noChangeAspect="1"/>
          </p:cNvPicPr>
          <p:nvPr/>
        </p:nvPicPr>
        <p:blipFill>
          <a:blip r:embed="rId2"/>
          <a:stretch>
            <a:fillRect/>
          </a:stretch>
        </p:blipFill>
        <p:spPr>
          <a:xfrm>
            <a:off x="4424891" y="1156855"/>
            <a:ext cx="3621233" cy="705428"/>
          </a:xfrm>
          <a:prstGeom prst="rect">
            <a:avLst/>
          </a:prstGeom>
        </p:spPr>
      </p:pic>
      <p:sp>
        <p:nvSpPr>
          <p:cNvPr id="17" name="TextBox 16">
            <a:extLst>
              <a:ext uri="{FF2B5EF4-FFF2-40B4-BE49-F238E27FC236}">
                <a16:creationId xmlns:a16="http://schemas.microsoft.com/office/drawing/2014/main" id="{556DC06F-1A4C-FAB5-7270-6EFE6B4841DF}"/>
              </a:ext>
            </a:extLst>
          </p:cNvPr>
          <p:cNvSpPr txBox="1"/>
          <p:nvPr/>
        </p:nvSpPr>
        <p:spPr>
          <a:xfrm>
            <a:off x="390687" y="2129619"/>
            <a:ext cx="78091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conditions: </a:t>
            </a:r>
          </a:p>
        </p:txBody>
      </p:sp>
      <p:pic>
        <p:nvPicPr>
          <p:cNvPr id="18" name="Picture 17">
            <a:extLst>
              <a:ext uri="{FF2B5EF4-FFF2-40B4-BE49-F238E27FC236}">
                <a16:creationId xmlns:a16="http://schemas.microsoft.com/office/drawing/2014/main" id="{D15E05A2-CFAD-CB95-740E-E27FCE09243B}"/>
              </a:ext>
            </a:extLst>
          </p:cNvPr>
          <p:cNvPicPr>
            <a:picLocks noChangeAspect="1"/>
          </p:cNvPicPr>
          <p:nvPr/>
        </p:nvPicPr>
        <p:blipFill>
          <a:blip r:embed="rId3"/>
          <a:stretch>
            <a:fillRect/>
          </a:stretch>
        </p:blipFill>
        <p:spPr>
          <a:xfrm>
            <a:off x="2720685" y="2059709"/>
            <a:ext cx="1428173" cy="510310"/>
          </a:xfrm>
          <a:prstGeom prst="rect">
            <a:avLst/>
          </a:prstGeom>
        </p:spPr>
      </p:pic>
      <p:pic>
        <p:nvPicPr>
          <p:cNvPr id="21" name="Picture 20">
            <a:extLst>
              <a:ext uri="{FF2B5EF4-FFF2-40B4-BE49-F238E27FC236}">
                <a16:creationId xmlns:a16="http://schemas.microsoft.com/office/drawing/2014/main" id="{C288896E-74F4-672F-FB6A-85AA6E7F9732}"/>
              </a:ext>
            </a:extLst>
          </p:cNvPr>
          <p:cNvPicPr>
            <a:picLocks noChangeAspect="1"/>
          </p:cNvPicPr>
          <p:nvPr/>
        </p:nvPicPr>
        <p:blipFill>
          <a:blip r:embed="rId4"/>
          <a:stretch>
            <a:fillRect/>
          </a:stretch>
        </p:blipFill>
        <p:spPr>
          <a:xfrm>
            <a:off x="7844135" y="1931834"/>
            <a:ext cx="3418610" cy="759691"/>
          </a:xfrm>
          <a:prstGeom prst="rect">
            <a:avLst/>
          </a:prstGeom>
        </p:spPr>
      </p:pic>
      <p:sp>
        <p:nvSpPr>
          <p:cNvPr id="23" name="TextBox 22">
            <a:extLst>
              <a:ext uri="{FF2B5EF4-FFF2-40B4-BE49-F238E27FC236}">
                <a16:creationId xmlns:a16="http://schemas.microsoft.com/office/drawing/2014/main" id="{37F1B0E8-234E-3140-01C6-3E98C740AF38}"/>
              </a:ext>
            </a:extLst>
          </p:cNvPr>
          <p:cNvSpPr txBox="1"/>
          <p:nvPr/>
        </p:nvSpPr>
        <p:spPr>
          <a:xfrm>
            <a:off x="408775" y="2846551"/>
            <a:ext cx="11655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After solving these, we get: </a:t>
            </a:r>
          </a:p>
        </p:txBody>
      </p:sp>
      <p:pic>
        <p:nvPicPr>
          <p:cNvPr id="24" name="Picture 23" descr="A black numbers on a white background&#10;&#10;AI-generated content may be incorrect.">
            <a:extLst>
              <a:ext uri="{FF2B5EF4-FFF2-40B4-BE49-F238E27FC236}">
                <a16:creationId xmlns:a16="http://schemas.microsoft.com/office/drawing/2014/main" id="{D9822BD0-0569-B36C-437E-1040AC2B47F9}"/>
              </a:ext>
            </a:extLst>
          </p:cNvPr>
          <p:cNvPicPr>
            <a:picLocks noChangeAspect="1"/>
          </p:cNvPicPr>
          <p:nvPr/>
        </p:nvPicPr>
        <p:blipFill>
          <a:blip r:embed="rId5"/>
          <a:stretch>
            <a:fillRect/>
          </a:stretch>
        </p:blipFill>
        <p:spPr>
          <a:xfrm>
            <a:off x="4290001" y="2744932"/>
            <a:ext cx="2838450" cy="571500"/>
          </a:xfrm>
          <a:prstGeom prst="rect">
            <a:avLst/>
          </a:prstGeom>
        </p:spPr>
      </p:pic>
      <p:pic>
        <p:nvPicPr>
          <p:cNvPr id="25" name="Picture 24">
            <a:extLst>
              <a:ext uri="{FF2B5EF4-FFF2-40B4-BE49-F238E27FC236}">
                <a16:creationId xmlns:a16="http://schemas.microsoft.com/office/drawing/2014/main" id="{53AECDF7-BFB5-59D0-AE84-C3F9ADC23A37}"/>
              </a:ext>
            </a:extLst>
          </p:cNvPr>
          <p:cNvPicPr>
            <a:picLocks noChangeAspect="1"/>
          </p:cNvPicPr>
          <p:nvPr/>
        </p:nvPicPr>
        <p:blipFill>
          <a:blip r:embed="rId6"/>
          <a:stretch>
            <a:fillRect/>
          </a:stretch>
        </p:blipFill>
        <p:spPr>
          <a:xfrm>
            <a:off x="7468658" y="2708756"/>
            <a:ext cx="2419350" cy="647700"/>
          </a:xfrm>
          <a:prstGeom prst="rect">
            <a:avLst/>
          </a:prstGeom>
        </p:spPr>
      </p:pic>
      <p:sp>
        <p:nvSpPr>
          <p:cNvPr id="27" name="TextBox 26">
            <a:extLst>
              <a:ext uri="{FF2B5EF4-FFF2-40B4-BE49-F238E27FC236}">
                <a16:creationId xmlns:a16="http://schemas.microsoft.com/office/drawing/2014/main" id="{3D4F885B-3A14-1A35-C99A-CD38C98894F9}"/>
              </a:ext>
            </a:extLst>
          </p:cNvPr>
          <p:cNvSpPr txBox="1"/>
          <p:nvPr/>
        </p:nvSpPr>
        <p:spPr>
          <a:xfrm>
            <a:off x="1664841" y="4546759"/>
            <a:ext cx="95950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Since we shifted the Brachistochrone, to shift it back, the required Polynomial should be</a:t>
            </a:r>
          </a:p>
        </p:txBody>
      </p:sp>
      <p:pic>
        <p:nvPicPr>
          <p:cNvPr id="28" name="Picture 27" descr="A black math equation&#10;&#10;AI-generated content may be incorrect.">
            <a:extLst>
              <a:ext uri="{FF2B5EF4-FFF2-40B4-BE49-F238E27FC236}">
                <a16:creationId xmlns:a16="http://schemas.microsoft.com/office/drawing/2014/main" id="{D8501611-BEA7-0D54-6162-6325A59249E8}"/>
              </a:ext>
            </a:extLst>
          </p:cNvPr>
          <p:cNvPicPr>
            <a:picLocks noChangeAspect="1"/>
          </p:cNvPicPr>
          <p:nvPr/>
        </p:nvPicPr>
        <p:blipFill>
          <a:blip r:embed="rId7"/>
          <a:stretch>
            <a:fillRect/>
          </a:stretch>
        </p:blipFill>
        <p:spPr>
          <a:xfrm>
            <a:off x="4669655" y="5151390"/>
            <a:ext cx="2571750" cy="800100"/>
          </a:xfrm>
          <a:prstGeom prst="rect">
            <a:avLst/>
          </a:prstGeom>
        </p:spPr>
      </p:pic>
      <p:pic>
        <p:nvPicPr>
          <p:cNvPr id="3" name="Picture 2" descr="A black numbers with a plus and a white background&#10;&#10;AI-generated content may be incorrect.">
            <a:extLst>
              <a:ext uri="{FF2B5EF4-FFF2-40B4-BE49-F238E27FC236}">
                <a16:creationId xmlns:a16="http://schemas.microsoft.com/office/drawing/2014/main" id="{750FFBA2-65A5-AAFB-32CC-03F5B8A7DA68}"/>
              </a:ext>
            </a:extLst>
          </p:cNvPr>
          <p:cNvPicPr>
            <a:picLocks noChangeAspect="1"/>
          </p:cNvPicPr>
          <p:nvPr/>
        </p:nvPicPr>
        <p:blipFill>
          <a:blip r:embed="rId8"/>
          <a:stretch>
            <a:fillRect/>
          </a:stretch>
        </p:blipFill>
        <p:spPr>
          <a:xfrm>
            <a:off x="4378541" y="1989060"/>
            <a:ext cx="3124200" cy="704850"/>
          </a:xfrm>
          <a:prstGeom prst="rect">
            <a:avLst/>
          </a:prstGeom>
        </p:spPr>
      </p:pic>
    </p:spTree>
    <p:extLst>
      <p:ext uri="{BB962C8B-B14F-4D97-AF65-F5344CB8AC3E}">
        <p14:creationId xmlns:p14="http://schemas.microsoft.com/office/powerpoint/2010/main" val="317807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B4B4-D23C-74C3-AC8C-79B8390A1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FB5E5-E822-A6B6-3EB6-2248D85C2585}"/>
              </a:ext>
            </a:extLst>
          </p:cNvPr>
          <p:cNvSpPr>
            <a:spLocks noGrp="1"/>
          </p:cNvSpPr>
          <p:nvPr>
            <p:ph type="title"/>
          </p:nvPr>
        </p:nvSpPr>
        <p:spPr/>
        <p:txBody>
          <a:bodyPr/>
          <a:lstStyle/>
          <a:p>
            <a:r>
              <a:rPr lang="en-US" b="0"/>
              <a:t>Plot of second order polynomial </a:t>
            </a:r>
            <a:endParaRPr lang="en-US"/>
          </a:p>
        </p:txBody>
      </p:sp>
      <p:sp>
        <p:nvSpPr>
          <p:cNvPr id="4" name="Date Placeholder 3">
            <a:extLst>
              <a:ext uri="{FF2B5EF4-FFF2-40B4-BE49-F238E27FC236}">
                <a16:creationId xmlns:a16="http://schemas.microsoft.com/office/drawing/2014/main" id="{4B99BB27-1FF6-9170-434F-FFC868DE3B8C}"/>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611206F6-2177-1194-36E3-C4394219AE5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B90F390-341D-D12C-63FA-EC3F2C03A036}"/>
              </a:ext>
            </a:extLst>
          </p:cNvPr>
          <p:cNvSpPr>
            <a:spLocks noGrp="1"/>
          </p:cNvSpPr>
          <p:nvPr>
            <p:ph type="sldNum" sz="quarter" idx="12"/>
          </p:nvPr>
        </p:nvSpPr>
        <p:spPr/>
        <p:txBody>
          <a:bodyPr/>
          <a:lstStyle/>
          <a:p>
            <a:fld id="{CC057153-B650-4DEB-B370-79DDCFDCE934}" type="slidenum">
              <a:rPr lang="en-US" dirty="0"/>
              <a:t>15</a:t>
            </a:fld>
            <a:endParaRPr lang="en-US"/>
          </a:p>
        </p:txBody>
      </p:sp>
      <p:sp>
        <p:nvSpPr>
          <p:cNvPr id="3" name="TextBox 2">
            <a:extLst>
              <a:ext uri="{FF2B5EF4-FFF2-40B4-BE49-F238E27FC236}">
                <a16:creationId xmlns:a16="http://schemas.microsoft.com/office/drawing/2014/main" id="{79D1FFB7-46FF-39EB-868F-B32AE7EC6F3F}"/>
              </a:ext>
            </a:extLst>
          </p:cNvPr>
          <p:cNvSpPr txBox="1"/>
          <p:nvPr/>
        </p:nvSpPr>
        <p:spPr>
          <a:xfrm>
            <a:off x="851337" y="1460938"/>
            <a:ext cx="10152993" cy="45930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graph of a function&#10;&#10;AI-generated content may be incorrect.">
            <a:extLst>
              <a:ext uri="{FF2B5EF4-FFF2-40B4-BE49-F238E27FC236}">
                <a16:creationId xmlns:a16="http://schemas.microsoft.com/office/drawing/2014/main" id="{BEDDAB21-17A3-8C3E-E362-9607EDE7FB63}"/>
              </a:ext>
            </a:extLst>
          </p:cNvPr>
          <p:cNvPicPr>
            <a:picLocks noChangeAspect="1"/>
          </p:cNvPicPr>
          <p:nvPr/>
        </p:nvPicPr>
        <p:blipFill>
          <a:blip r:embed="rId2"/>
          <a:stretch>
            <a:fillRect/>
          </a:stretch>
        </p:blipFill>
        <p:spPr>
          <a:xfrm>
            <a:off x="3780387" y="1939636"/>
            <a:ext cx="4302181" cy="4115956"/>
          </a:xfrm>
          <a:prstGeom prst="rect">
            <a:avLst/>
          </a:prstGeom>
        </p:spPr>
      </p:pic>
      <p:sp>
        <p:nvSpPr>
          <p:cNvPr id="8" name="TextBox 7">
            <a:extLst>
              <a:ext uri="{FF2B5EF4-FFF2-40B4-BE49-F238E27FC236}">
                <a16:creationId xmlns:a16="http://schemas.microsoft.com/office/drawing/2014/main" id="{9930B772-8C0B-0413-FFF8-8CC895397C04}"/>
              </a:ext>
            </a:extLst>
          </p:cNvPr>
          <p:cNvSpPr txBox="1"/>
          <p:nvPr/>
        </p:nvSpPr>
        <p:spPr>
          <a:xfrm>
            <a:off x="998483" y="1103585"/>
            <a:ext cx="25855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This is the Plot of </a:t>
            </a:r>
          </a:p>
        </p:txBody>
      </p:sp>
      <p:pic>
        <p:nvPicPr>
          <p:cNvPr id="10" name="Picture 9" descr="A black math equation&#10;&#10;AI-generated content may be incorrect.">
            <a:extLst>
              <a:ext uri="{FF2B5EF4-FFF2-40B4-BE49-F238E27FC236}">
                <a16:creationId xmlns:a16="http://schemas.microsoft.com/office/drawing/2014/main" id="{A2A140D1-CF61-6B24-17AD-853F466FD29A}"/>
              </a:ext>
            </a:extLst>
          </p:cNvPr>
          <p:cNvPicPr>
            <a:picLocks noChangeAspect="1"/>
          </p:cNvPicPr>
          <p:nvPr/>
        </p:nvPicPr>
        <p:blipFill>
          <a:blip r:embed="rId3"/>
          <a:stretch>
            <a:fillRect/>
          </a:stretch>
        </p:blipFill>
        <p:spPr>
          <a:xfrm>
            <a:off x="3678670" y="1233632"/>
            <a:ext cx="1446069" cy="453737"/>
          </a:xfrm>
          <a:prstGeom prst="rect">
            <a:avLst/>
          </a:prstGeom>
        </p:spPr>
      </p:pic>
      <p:sp>
        <p:nvSpPr>
          <p:cNvPr id="12" name="TextBox 11">
            <a:extLst>
              <a:ext uri="{FF2B5EF4-FFF2-40B4-BE49-F238E27FC236}">
                <a16:creationId xmlns:a16="http://schemas.microsoft.com/office/drawing/2014/main" id="{ACC82212-37F7-DC45-7FC9-68B234A7A136}"/>
              </a:ext>
            </a:extLst>
          </p:cNvPr>
          <p:cNvSpPr txBox="1"/>
          <p:nvPr/>
        </p:nvSpPr>
        <p:spPr>
          <a:xfrm>
            <a:off x="8831794" y="1747385"/>
            <a:ext cx="29858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Black: Original Brachistochrone</a:t>
            </a:r>
          </a:p>
          <a:p>
            <a:r>
              <a:rPr lang="en-US"/>
              <a:t>Purple: Second order approximation</a:t>
            </a:r>
          </a:p>
        </p:txBody>
      </p:sp>
    </p:spTree>
    <p:extLst>
      <p:ext uri="{BB962C8B-B14F-4D97-AF65-F5344CB8AC3E}">
        <p14:creationId xmlns:p14="http://schemas.microsoft.com/office/powerpoint/2010/main" val="4114588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5EA4-5D23-A711-FF79-B9F9DD424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0AA4F-81D8-02BE-CF7A-D8EED05529D4}"/>
              </a:ext>
            </a:extLst>
          </p:cNvPr>
          <p:cNvSpPr>
            <a:spLocks noGrp="1"/>
          </p:cNvSpPr>
          <p:nvPr>
            <p:ph type="title"/>
          </p:nvPr>
        </p:nvSpPr>
        <p:spPr/>
        <p:txBody>
          <a:bodyPr/>
          <a:lstStyle/>
          <a:p>
            <a:r>
              <a:rPr lang="en-US" b="0"/>
              <a:t>Third order polynomial</a:t>
            </a:r>
            <a:endParaRPr lang="en-US"/>
          </a:p>
        </p:txBody>
      </p:sp>
      <p:sp>
        <p:nvSpPr>
          <p:cNvPr id="4" name="Date Placeholder 3">
            <a:extLst>
              <a:ext uri="{FF2B5EF4-FFF2-40B4-BE49-F238E27FC236}">
                <a16:creationId xmlns:a16="http://schemas.microsoft.com/office/drawing/2014/main" id="{5FDA14EC-C3EB-760E-CAFC-270F16492CA5}"/>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D796FC9A-90BC-B3C6-145B-225075F633C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FE91782-AD78-2D18-AF9C-27EB0FB869BF}"/>
              </a:ext>
            </a:extLst>
          </p:cNvPr>
          <p:cNvSpPr>
            <a:spLocks noGrp="1"/>
          </p:cNvSpPr>
          <p:nvPr>
            <p:ph type="sldNum" sz="quarter" idx="12"/>
          </p:nvPr>
        </p:nvSpPr>
        <p:spPr/>
        <p:txBody>
          <a:bodyPr/>
          <a:lstStyle/>
          <a:p>
            <a:fld id="{CC057153-B650-4DEB-B370-79DDCFDCE934}" type="slidenum">
              <a:rPr lang="en-US" dirty="0"/>
              <a:t>16</a:t>
            </a:fld>
            <a:endParaRPr lang="en-US"/>
          </a:p>
        </p:txBody>
      </p:sp>
      <p:sp>
        <p:nvSpPr>
          <p:cNvPr id="3" name="TextBox 2">
            <a:extLst>
              <a:ext uri="{FF2B5EF4-FFF2-40B4-BE49-F238E27FC236}">
                <a16:creationId xmlns:a16="http://schemas.microsoft.com/office/drawing/2014/main" id="{4695A395-C538-B502-0A7B-787A36031066}"/>
              </a:ext>
            </a:extLst>
          </p:cNvPr>
          <p:cNvSpPr txBox="1"/>
          <p:nvPr/>
        </p:nvSpPr>
        <p:spPr>
          <a:xfrm>
            <a:off x="704192" y="1418896"/>
            <a:ext cx="107100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Similarly, this is the Plot of a third order approximation:</a:t>
            </a:r>
          </a:p>
        </p:txBody>
      </p:sp>
      <p:pic>
        <p:nvPicPr>
          <p:cNvPr id="7" name="Picture 6" descr="A line graph with a black line&#10;&#10;AI-generated content may be incorrect.">
            <a:extLst>
              <a:ext uri="{FF2B5EF4-FFF2-40B4-BE49-F238E27FC236}">
                <a16:creationId xmlns:a16="http://schemas.microsoft.com/office/drawing/2014/main" id="{A745E70A-90B3-4726-266E-5FDE6260B56D}"/>
              </a:ext>
            </a:extLst>
          </p:cNvPr>
          <p:cNvPicPr>
            <a:picLocks noChangeAspect="1"/>
          </p:cNvPicPr>
          <p:nvPr/>
        </p:nvPicPr>
        <p:blipFill>
          <a:blip r:embed="rId2"/>
          <a:stretch>
            <a:fillRect/>
          </a:stretch>
        </p:blipFill>
        <p:spPr>
          <a:xfrm>
            <a:off x="3844864" y="1939636"/>
            <a:ext cx="4196316" cy="4133275"/>
          </a:xfrm>
          <a:prstGeom prst="rect">
            <a:avLst/>
          </a:prstGeom>
        </p:spPr>
      </p:pic>
    </p:spTree>
    <p:extLst>
      <p:ext uri="{BB962C8B-B14F-4D97-AF65-F5344CB8AC3E}">
        <p14:creationId xmlns:p14="http://schemas.microsoft.com/office/powerpoint/2010/main" val="3873345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CCD1E-1DAA-A187-F053-CC0753C6C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020C0-66A2-54AA-4927-EFE6D224CE01}"/>
              </a:ext>
            </a:extLst>
          </p:cNvPr>
          <p:cNvSpPr>
            <a:spLocks noGrp="1"/>
          </p:cNvSpPr>
          <p:nvPr>
            <p:ph type="title"/>
          </p:nvPr>
        </p:nvSpPr>
        <p:spPr/>
        <p:txBody>
          <a:bodyPr/>
          <a:lstStyle/>
          <a:p>
            <a:r>
              <a:rPr lang="en-US" b="0"/>
              <a:t>Plots of 2nd, 3rd, 4th and 7th orders </a:t>
            </a:r>
          </a:p>
        </p:txBody>
      </p:sp>
      <p:sp>
        <p:nvSpPr>
          <p:cNvPr id="4" name="Date Placeholder 3">
            <a:extLst>
              <a:ext uri="{FF2B5EF4-FFF2-40B4-BE49-F238E27FC236}">
                <a16:creationId xmlns:a16="http://schemas.microsoft.com/office/drawing/2014/main" id="{749A1F23-5460-FDA5-4B8A-5C03CC4C0BB1}"/>
              </a:ext>
            </a:extLst>
          </p:cNvPr>
          <p:cNvSpPr>
            <a:spLocks noGrp="1"/>
          </p:cNvSpPr>
          <p:nvPr>
            <p:ph type="dt" sz="half" idx="10"/>
          </p:nvPr>
        </p:nvSpPr>
        <p:spPr/>
        <p:txBody>
          <a:bodyPr/>
          <a:lstStyle/>
          <a:p>
            <a:fld id="{0141EF3D-6F47-4973-866D-68DDFA14ED26}" type="datetime1">
              <a:t>11/7/2025</a:t>
            </a:fld>
            <a:endParaRPr lang="en-US"/>
          </a:p>
        </p:txBody>
      </p:sp>
      <p:sp>
        <p:nvSpPr>
          <p:cNvPr id="5" name="Footer Placeholder 4">
            <a:extLst>
              <a:ext uri="{FF2B5EF4-FFF2-40B4-BE49-F238E27FC236}">
                <a16:creationId xmlns:a16="http://schemas.microsoft.com/office/drawing/2014/main" id="{A93739D5-AA82-5212-7377-FDC5F9C56D6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2F48169-3E5F-A62F-D86C-161F6B4F6525}"/>
              </a:ext>
            </a:extLst>
          </p:cNvPr>
          <p:cNvSpPr>
            <a:spLocks noGrp="1"/>
          </p:cNvSpPr>
          <p:nvPr>
            <p:ph type="sldNum" sz="quarter" idx="12"/>
          </p:nvPr>
        </p:nvSpPr>
        <p:spPr/>
        <p:txBody>
          <a:bodyPr/>
          <a:lstStyle/>
          <a:p>
            <a:fld id="{CC057153-B650-4DEB-B370-79DDCFDCE934}" type="slidenum">
              <a:rPr lang="en-US" dirty="0"/>
              <a:t>17</a:t>
            </a:fld>
            <a:endParaRPr lang="en-US"/>
          </a:p>
        </p:txBody>
      </p:sp>
      <p:pic>
        <p:nvPicPr>
          <p:cNvPr id="9" name="Picture 8" descr="A line graph with different colored lines&#10;&#10;AI-generated content may be incorrect.">
            <a:extLst>
              <a:ext uri="{FF2B5EF4-FFF2-40B4-BE49-F238E27FC236}">
                <a16:creationId xmlns:a16="http://schemas.microsoft.com/office/drawing/2014/main" id="{45129FC7-611B-07FC-D8A6-034BAEF95463}"/>
              </a:ext>
            </a:extLst>
          </p:cNvPr>
          <p:cNvPicPr>
            <a:picLocks noChangeAspect="1"/>
          </p:cNvPicPr>
          <p:nvPr/>
        </p:nvPicPr>
        <p:blipFill>
          <a:blip r:embed="rId2"/>
          <a:stretch>
            <a:fillRect/>
          </a:stretch>
        </p:blipFill>
        <p:spPr>
          <a:xfrm>
            <a:off x="3467572" y="1362364"/>
            <a:ext cx="4737310" cy="4589319"/>
          </a:xfrm>
          <a:prstGeom prst="rect">
            <a:avLst/>
          </a:prstGeom>
        </p:spPr>
      </p:pic>
    </p:spTree>
    <p:extLst>
      <p:ext uri="{BB962C8B-B14F-4D97-AF65-F5344CB8AC3E}">
        <p14:creationId xmlns:p14="http://schemas.microsoft.com/office/powerpoint/2010/main" val="2681338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ED7EF-E124-F410-7316-CA7AF9A3A56F}"/>
              </a:ext>
            </a:extLst>
          </p:cNvPr>
          <p:cNvSpPr>
            <a:spLocks noGrp="1"/>
          </p:cNvSpPr>
          <p:nvPr>
            <p:ph type="title"/>
          </p:nvPr>
        </p:nvSpPr>
        <p:spPr/>
        <p:txBody>
          <a:bodyPr/>
          <a:lstStyle/>
          <a:p>
            <a:r>
              <a:rPr lang="en-US" b="0"/>
              <a:t>Plots of 11th, 15th and 20th orders </a:t>
            </a:r>
          </a:p>
          <a:p>
            <a:endParaRPr lang="en-US" b="0"/>
          </a:p>
        </p:txBody>
      </p:sp>
      <p:pic>
        <p:nvPicPr>
          <p:cNvPr id="7" name="Content Placeholder 6" descr="A line graph with numbers&#10;&#10;AI-generated content may be incorrect.">
            <a:extLst>
              <a:ext uri="{FF2B5EF4-FFF2-40B4-BE49-F238E27FC236}">
                <a16:creationId xmlns:a16="http://schemas.microsoft.com/office/drawing/2014/main" id="{93BBF58B-68EC-4338-A32D-03B1B73190C9}"/>
              </a:ext>
            </a:extLst>
          </p:cNvPr>
          <p:cNvPicPr>
            <a:picLocks noGrp="1" noChangeAspect="1"/>
          </p:cNvPicPr>
          <p:nvPr>
            <p:ph idx="1"/>
          </p:nvPr>
        </p:nvPicPr>
        <p:blipFill>
          <a:blip r:embed="rId2"/>
          <a:stretch>
            <a:fillRect/>
          </a:stretch>
        </p:blipFill>
        <p:spPr>
          <a:xfrm>
            <a:off x="3568010" y="1686778"/>
            <a:ext cx="4958511" cy="4795109"/>
          </a:xfrm>
          <a:prstGeom prst="rect">
            <a:avLst/>
          </a:prstGeom>
        </p:spPr>
      </p:pic>
      <p:sp>
        <p:nvSpPr>
          <p:cNvPr id="4" name="Date Placeholder 3">
            <a:extLst>
              <a:ext uri="{FF2B5EF4-FFF2-40B4-BE49-F238E27FC236}">
                <a16:creationId xmlns:a16="http://schemas.microsoft.com/office/drawing/2014/main" id="{9D2BA42D-90B9-4731-C4BE-924EFD69D56C}"/>
              </a:ext>
            </a:extLst>
          </p:cNvPr>
          <p:cNvSpPr>
            <a:spLocks noGrp="1"/>
          </p:cNvSpPr>
          <p:nvPr>
            <p:ph type="dt" sz="half" idx="10"/>
          </p:nvPr>
        </p:nvSpPr>
        <p:spPr/>
        <p:txBody>
          <a:bodyPr/>
          <a:lstStyle/>
          <a:p>
            <a:fld id="{3B5DF333-C98F-496E-A111-8E4A768CA823}" type="datetime1">
              <a:t>11/7/2025</a:t>
            </a:fld>
            <a:endParaRPr lang="en-US"/>
          </a:p>
        </p:txBody>
      </p:sp>
      <p:sp>
        <p:nvSpPr>
          <p:cNvPr id="5" name="Footer Placeholder 4">
            <a:extLst>
              <a:ext uri="{FF2B5EF4-FFF2-40B4-BE49-F238E27FC236}">
                <a16:creationId xmlns:a16="http://schemas.microsoft.com/office/drawing/2014/main" id="{820EC1B3-7738-C61D-9829-ACCEB9E53E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0DD7B0B-6578-54C0-AD33-9CE9D2AD829E}"/>
              </a:ext>
            </a:extLst>
          </p:cNvPr>
          <p:cNvSpPr>
            <a:spLocks noGrp="1"/>
          </p:cNvSpPr>
          <p:nvPr>
            <p:ph type="sldNum" sz="quarter" idx="12"/>
          </p:nvPr>
        </p:nvSpPr>
        <p:spPr/>
        <p:txBody>
          <a:bodyPr/>
          <a:lstStyle/>
          <a:p>
            <a:fld id="{CC057153-B650-4DEB-B370-79DDCFDCE934}" type="slidenum">
              <a:rPr lang="en-US" dirty="0"/>
              <a:t>18</a:t>
            </a:fld>
            <a:endParaRPr lang="en-US"/>
          </a:p>
        </p:txBody>
      </p:sp>
    </p:spTree>
    <p:extLst>
      <p:ext uri="{BB962C8B-B14F-4D97-AF65-F5344CB8AC3E}">
        <p14:creationId xmlns:p14="http://schemas.microsoft.com/office/powerpoint/2010/main" val="878864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ED01-7C70-2F07-BD37-BB53DE3CC7EC}"/>
              </a:ext>
            </a:extLst>
          </p:cNvPr>
          <p:cNvSpPr>
            <a:spLocks noGrp="1"/>
          </p:cNvSpPr>
          <p:nvPr>
            <p:ph type="title"/>
          </p:nvPr>
        </p:nvSpPr>
        <p:spPr/>
        <p:txBody>
          <a:bodyPr/>
          <a:lstStyle/>
          <a:p>
            <a:r>
              <a:rPr lang="en-US" b="0"/>
              <a:t>Future Work</a:t>
            </a:r>
          </a:p>
        </p:txBody>
      </p:sp>
      <p:sp>
        <p:nvSpPr>
          <p:cNvPr id="3" name="Content Placeholder 2">
            <a:extLst>
              <a:ext uri="{FF2B5EF4-FFF2-40B4-BE49-F238E27FC236}">
                <a16:creationId xmlns:a16="http://schemas.microsoft.com/office/drawing/2014/main" id="{3DB70056-DF18-C78D-F52D-F17389496C69}"/>
              </a:ext>
            </a:extLst>
          </p:cNvPr>
          <p:cNvSpPr>
            <a:spLocks noGrp="1"/>
          </p:cNvSpPr>
          <p:nvPr>
            <p:ph idx="1"/>
          </p:nvPr>
        </p:nvSpPr>
        <p:spPr/>
        <p:txBody>
          <a:bodyPr vert="horz" lIns="91440" tIns="45720" rIns="91440" bIns="45720" rtlCol="0" anchor="t">
            <a:normAutofit/>
          </a:bodyPr>
          <a:lstStyle/>
          <a:p>
            <a:r>
              <a:rPr lang="en-US"/>
              <a:t>Implement Interval Newton Raphson Algorithm to find rigorous bounds for the coefficients of Power Series and plot the Interval Valued curve solution of Brachistochrone Problem</a:t>
            </a:r>
          </a:p>
          <a:p>
            <a:r>
              <a:rPr lang="en-US"/>
              <a:t>Use our knowledge of the solution for Brachistochrone problem to implement an algorithm to solve general Boundary value ODE problems</a:t>
            </a:r>
          </a:p>
        </p:txBody>
      </p:sp>
      <p:sp>
        <p:nvSpPr>
          <p:cNvPr id="4" name="Date Placeholder 3">
            <a:extLst>
              <a:ext uri="{FF2B5EF4-FFF2-40B4-BE49-F238E27FC236}">
                <a16:creationId xmlns:a16="http://schemas.microsoft.com/office/drawing/2014/main" id="{F3768889-D3FC-7CA0-E2C6-A84DC378828E}"/>
              </a:ext>
            </a:extLst>
          </p:cNvPr>
          <p:cNvSpPr>
            <a:spLocks noGrp="1"/>
          </p:cNvSpPr>
          <p:nvPr>
            <p:ph type="dt" sz="half" idx="10"/>
          </p:nvPr>
        </p:nvSpPr>
        <p:spPr/>
        <p:txBody>
          <a:bodyPr/>
          <a:lstStyle/>
          <a:p>
            <a:fld id="{BD7EA46E-7557-481A-B450-6A21BD92A5F9}" type="datetime1">
              <a:t>11/7/2025</a:t>
            </a:fld>
            <a:endParaRPr lang="en-US"/>
          </a:p>
        </p:txBody>
      </p:sp>
      <p:sp>
        <p:nvSpPr>
          <p:cNvPr id="5" name="Footer Placeholder 4">
            <a:extLst>
              <a:ext uri="{FF2B5EF4-FFF2-40B4-BE49-F238E27FC236}">
                <a16:creationId xmlns:a16="http://schemas.microsoft.com/office/drawing/2014/main" id="{CB428571-FA7A-F0B2-88B9-3C1E9426B78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79DC708-BC18-DDD7-7A56-60687C3E9B33}"/>
              </a:ext>
            </a:extLst>
          </p:cNvPr>
          <p:cNvSpPr>
            <a:spLocks noGrp="1"/>
          </p:cNvSpPr>
          <p:nvPr>
            <p:ph type="sldNum" sz="quarter" idx="12"/>
          </p:nvPr>
        </p:nvSpPr>
        <p:spPr/>
        <p:txBody>
          <a:bodyPr/>
          <a:lstStyle/>
          <a:p>
            <a:fld id="{CC057153-B650-4DEB-B370-79DDCFDCE934}" type="slidenum">
              <a:rPr lang="en-US" dirty="0"/>
              <a:t>19</a:t>
            </a:fld>
            <a:endParaRPr lang="en-US"/>
          </a:p>
        </p:txBody>
      </p:sp>
    </p:spTree>
    <p:extLst>
      <p:ext uri="{BB962C8B-B14F-4D97-AF65-F5344CB8AC3E}">
        <p14:creationId xmlns:p14="http://schemas.microsoft.com/office/powerpoint/2010/main" val="88746505"/>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CE8B-8C29-A631-85AB-414B46AF71B6}"/>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A9564F05-D96A-1879-2FCB-3F37441C31B9}"/>
              </a:ext>
            </a:extLst>
          </p:cNvPr>
          <p:cNvSpPr>
            <a:spLocks noGrp="1"/>
          </p:cNvSpPr>
          <p:nvPr>
            <p:ph type="subTitle" idx="1"/>
          </p:nvPr>
        </p:nvSpPr>
        <p:spPr>
          <a:xfrm>
            <a:off x="2811674" y="3843708"/>
            <a:ext cx="7078404" cy="1414091"/>
          </a:xfrm>
        </p:spPr>
        <p:txBody>
          <a:bodyPr vert="horz" lIns="91440" tIns="45720" rIns="91440" bIns="45720" rtlCol="0" anchor="t">
            <a:normAutofit/>
          </a:bodyPr>
          <a:lstStyle/>
          <a:p>
            <a:endParaRPr lang="en-US"/>
          </a:p>
          <a:p>
            <a:endParaRPr lang="en-US"/>
          </a:p>
        </p:txBody>
      </p:sp>
      <p:sp>
        <p:nvSpPr>
          <p:cNvPr id="4" name="Date Placeholder 3">
            <a:extLst>
              <a:ext uri="{FF2B5EF4-FFF2-40B4-BE49-F238E27FC236}">
                <a16:creationId xmlns:a16="http://schemas.microsoft.com/office/drawing/2014/main" id="{DB7FDF8A-6979-A3E4-1628-AD6117766BD5}"/>
              </a:ext>
            </a:extLst>
          </p:cNvPr>
          <p:cNvSpPr>
            <a:spLocks noGrp="1"/>
          </p:cNvSpPr>
          <p:nvPr>
            <p:ph type="dt" sz="half" idx="10"/>
          </p:nvPr>
        </p:nvSpPr>
        <p:spPr/>
        <p:txBody>
          <a:bodyPr/>
          <a:lstStyle/>
          <a:p>
            <a:fld id="{798F3C3E-1D7A-4147-9187-315B0BB8A8BA}" type="datetime1">
              <a:t>11/7/2025</a:t>
            </a:fld>
            <a:endParaRPr lang="en-US"/>
          </a:p>
        </p:txBody>
      </p:sp>
      <p:sp>
        <p:nvSpPr>
          <p:cNvPr id="5" name="Footer Placeholder 4">
            <a:extLst>
              <a:ext uri="{FF2B5EF4-FFF2-40B4-BE49-F238E27FC236}">
                <a16:creationId xmlns:a16="http://schemas.microsoft.com/office/drawing/2014/main" id="{32CBE51B-EF37-8270-DD06-59131C0BAF4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CB6AA10-EBAB-0A3F-4A15-5CD37C04D832}"/>
              </a:ext>
            </a:extLst>
          </p:cNvPr>
          <p:cNvSpPr>
            <a:spLocks noGrp="1"/>
          </p:cNvSpPr>
          <p:nvPr>
            <p:ph type="sldNum" sz="quarter" idx="12"/>
          </p:nvPr>
        </p:nvSpPr>
        <p:spPr/>
        <p:txBody>
          <a:bodyPr/>
          <a:lstStyle/>
          <a:p>
            <a:fld id="{CC057153-B650-4DEB-B370-79DDCFDCE934}" type="slidenum">
              <a:rPr lang="en-US" dirty="0"/>
              <a:t>20</a:t>
            </a:fld>
            <a:endParaRPr lang="en-US"/>
          </a:p>
        </p:txBody>
      </p:sp>
    </p:spTree>
    <p:extLst>
      <p:ext uri="{BB962C8B-B14F-4D97-AF65-F5344CB8AC3E}">
        <p14:creationId xmlns:p14="http://schemas.microsoft.com/office/powerpoint/2010/main" val="2967135788"/>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VanillaVTI</vt:lpstr>
      <vt:lpstr>Boundary value ODE Using Interval Arithmetic</vt:lpstr>
      <vt:lpstr>Problem Statement</vt:lpstr>
      <vt:lpstr>Introduction to Brachistochrone Problem </vt:lpstr>
      <vt:lpstr>Snell's Law Solution  Which path Light would take?</vt:lpstr>
      <vt:lpstr>Existing Analytical Solution</vt:lpstr>
      <vt:lpstr>Motivation</vt:lpstr>
      <vt:lpstr>Motivation</vt:lpstr>
      <vt:lpstr>Overview of Our Solution  (Using Taylor Series &amp; Interval Arithmetic)</vt:lpstr>
      <vt:lpstr>Taylor Series &amp; Interval Arithmetic Solution  Solving for Initial case</vt:lpstr>
      <vt:lpstr>Taylor Series &amp; Interval Arithmetic Solution</vt:lpstr>
      <vt:lpstr>Problem with this case</vt:lpstr>
      <vt:lpstr>Updated Case: Shifted Brachistochrone</vt:lpstr>
      <vt:lpstr>Solution Method</vt:lpstr>
      <vt:lpstr>Example: Solving for second order </vt:lpstr>
      <vt:lpstr>Plot of second order polynomial </vt:lpstr>
      <vt:lpstr>Third order polynomial</vt:lpstr>
      <vt:lpstr>Plots of 2nd, 3rd, 4th and 7th orders </vt:lpstr>
      <vt:lpstr>Plots of 11th, 15th and 20th orders  </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287</cp:revision>
  <dcterms:created xsi:type="dcterms:W3CDTF">2025-09-05T23:40:04Z</dcterms:created>
  <dcterms:modified xsi:type="dcterms:W3CDTF">2025-11-07T15:52:39Z</dcterms:modified>
</cp:coreProperties>
</file>